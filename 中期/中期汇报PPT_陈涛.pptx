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4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2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18.xml" ContentType="application/vnd.openxmlformats-officedocument.presentationml.slide+xml"/>
  <ns0:Override PartName="/ppt/slides/slide20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62" r:id="rId13"/>
    <p:sldId id="263" r:id="rId14"/>
    <p:sldId id="265" r:id="rId16"/>
    <p:sldId id="266" r:id="rId17"/>
    <p:sldId id="269" r:id="rId20"/>
    <p:sldId id="271" r:id="rId22"/>
    <p:sldId id="274" r:id="rId25"/>
    <p:sldId id="273" r:id="rId24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slideMasters/slideMaster1.xml" />
  <ns0:Relationship Id="rId2" Type="http://schemas.openxmlformats.org/officeDocument/2006/relationships/printerSettings" Target="printerSettings/printerSettings1.bin" />
  <ns0:Relationship Id="rId3" Type="http://schemas.openxmlformats.org/officeDocument/2006/relationships/presProps" Target="presProps.xml" />
  <ns0:Relationship Id="rId4" Type="http://schemas.openxmlformats.org/officeDocument/2006/relationships/viewProps" Target="viewProps.xml" />
  <ns0:Relationship Id="rId5" Type="http://schemas.openxmlformats.org/officeDocument/2006/relationships/theme" Target="theme/theme1.xml" />
  <ns0:Relationship Id="rId6" Type="http://schemas.openxmlformats.org/officeDocument/2006/relationships/tableStyles" Target="tableStyles.xml" />
  <ns0:Relationship Id="rId7" Type="http://schemas.openxmlformats.org/officeDocument/2006/relationships/slide" Target="slides/slide1.xml" />
  <ns0:Relationship Id="rId8" Type="http://schemas.openxmlformats.org/officeDocument/2006/relationships/slide" Target="slides/slide2.xml" />
  <ns0:Relationship Id="rId11" Type="http://schemas.openxmlformats.org/officeDocument/2006/relationships/slide" Target="slides/slide5.xml" />
  <ns0:Relationship Id="rId12" Type="http://schemas.openxmlformats.org/officeDocument/2006/relationships/slide" Target="slides/slide6.xml" />
  <ns0:Relationship Id="rId13" Type="http://schemas.openxmlformats.org/officeDocument/2006/relationships/slide" Target="slides/slide7.xml" />
  <ns0:Relationship Id="rId14" Type="http://schemas.openxmlformats.org/officeDocument/2006/relationships/slide" Target="slides/slide8.xml" />
  <ns0:Relationship Id="rId16" Type="http://schemas.openxmlformats.org/officeDocument/2006/relationships/slide" Target="slides/slide10.xml" />
  <ns0:Relationship Id="rId17" Type="http://schemas.openxmlformats.org/officeDocument/2006/relationships/slide" Target="slides/slide11.xml" />
  <ns0:Relationship Id="rId20" Type="http://schemas.openxmlformats.org/officeDocument/2006/relationships/slide" Target="slides/slide14.xml" />
  <ns0:Relationship Id="rId22" Type="http://schemas.openxmlformats.org/officeDocument/2006/relationships/slide" Target="slides/slide16.xml" />
  <ns0:Relationship Id="rId23" Type="http://schemas.openxmlformats.org/officeDocument/2006/relationships/slide" Target="slides/slide17.xml" />
  <ns0:Relationship Id="rId24" Type="http://schemas.openxmlformats.org/officeDocument/2006/relationships/slide" Target="slides/slide18.xml" />
  <ns0:Relationship Id="rId25" Type="http://schemas.openxmlformats.org/officeDocument/2006/relationships/slide" Target="slides/slide20.xml" />
</ns0:Relationships>
</file>

<file path=ppt/slideLayouts/_rels/slideLayout1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2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3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4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5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6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7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8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9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10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_rels/slideLayout11.xml.rels><?xml version="1.0" encoding="UTF-8" standalone="yes"?>
<ns0:Relationships xmlns:ns0="http://schemas.openxmlformats.org/package/2006/relationships">
  <ns0:Relationship Id="rId1" Type="http://schemas.openxmlformats.org/officeDocument/2006/relationships/slideMaster" Target="../slideMasters/slideMaster1.xml" />
</ns0: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1.xml" />
  <ns0:Relationship Id="rId2" Type="http://schemas.openxmlformats.org/officeDocument/2006/relationships/slideLayout" Target="../slideLayouts/slideLayout2.xml" />
  <ns0:Relationship Id="rId3" Type="http://schemas.openxmlformats.org/officeDocument/2006/relationships/slideLayout" Target="../slideLayouts/slideLayout3.xml" />
  <ns0:Relationship Id="rId4" Type="http://schemas.openxmlformats.org/officeDocument/2006/relationships/slideLayout" Target="../slideLayouts/slideLayout4.xml" />
  <ns0:Relationship Id="rId5" Type="http://schemas.openxmlformats.org/officeDocument/2006/relationships/slideLayout" Target="../slideLayouts/slideLayout5.xml" />
  <ns0:Relationship Id="rId6" Type="http://schemas.openxmlformats.org/officeDocument/2006/relationships/slideLayout" Target="../slideLayouts/slideLayout6.xml" />
  <ns0:Relationship Id="rId7" Type="http://schemas.openxmlformats.org/officeDocument/2006/relationships/slideLayout" Target="../slideLayouts/slideLayout7.xml" />
  <ns0:Relationship Id="rId8" Type="http://schemas.openxmlformats.org/officeDocument/2006/relationships/slideLayout" Target="../slideLayouts/slideLayout8.xml" />
  <ns0:Relationship Id="rId9" Type="http://schemas.openxmlformats.org/officeDocument/2006/relationships/slideLayout" Target="../slideLayouts/slideLayout9.xml" />
  <ns0:Relationship Id="rId10" Type="http://schemas.openxmlformats.org/officeDocument/2006/relationships/slideLayout" Target="../slideLayouts/slideLayout10.xml" />
  <ns0:Relationship Id="rId11" Type="http://schemas.openxmlformats.org/officeDocument/2006/relationships/slideLayout" Target="../slideLayouts/slideLayout11.xml" />
  <ns0:Relationship Id="rId12" Type="http://schemas.openxmlformats.org/officeDocument/2006/relationships/theme" Target="../theme/theme1.xml" />
</ns0: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1.png" />
  <ns0:Relationship Id="rId3" Type="http://schemas.openxmlformats.org/officeDocument/2006/relationships/image" Target="../media/image2.png" />
</ns0:Relationships>
</file>

<file path=ppt/slides/_rels/slide2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</ns0:Relationships>
</file>

<file path=ppt/slides/_rels/slide5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3.png" />
</ns0:Relationships>
</file>

<file path=ppt/slides/_rels/slide6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4.png" />
</ns0:Relationships>
</file>

<file path=ppt/slides/_rels/slide7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5.png" />
</ns0:Relationships>
</file>

<file path=ppt/slides/_rels/slide8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6.png" />
</ns0:Relationships>
</file>

<file path=ppt/slides/_rels/slide10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</ns0:Relationships>
</file>

<file path=ppt/slides/_rels/slide11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8.png" />
</ns0:Relationships>
</file>

<file path=ppt/slides/_rels/slide14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11.png" />
</ns0:Relationships>
</file>

<file path=ppt/slides/_rels/slide16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</ns0:Relationships>
</file>

<file path=ppt/slides/_rels/slide17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  <ns0:Relationship Id="rId3" Type="http://schemas.openxmlformats.org/officeDocument/2006/relationships/image" Target="../media/image9.png" />
</ns0:Relationships>
</file>

<file path=ppt/slides/_rels/slide18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2.png" />
</ns0:Relationships>
</file>

<file path=ppt/slides/_rels/slide20.xml.rels><?xml version="1.0" encoding="UTF-8" standalone="yes"?>
<ns0:Relationships xmlns:ns0="http://schemas.openxmlformats.org/package/2006/relationships">
  <ns0:Relationship Id="rId1" Type="http://schemas.openxmlformats.org/officeDocument/2006/relationships/slideLayout" Target="../slideLayouts/slideLayout7.xml" />
  <ns0:Relationship Id="rId2" Type="http://schemas.openxmlformats.org/officeDocument/2006/relationships/image" Target="../media/image1.png" />
  <ns0:Relationship Id="rId3" Type="http://schemas.openxmlformats.org/officeDocument/2006/relationships/image" Target="../media/image2.png" />
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udan_campu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84881"/>
            <a:ext cx="3401568" cy="5088237"/>
          </a:xfrm>
          <a:prstGeom prst="rect">
            <a:avLst/>
          </a:prstGeom>
        </p:spPr>
      </p:pic>
      <p:pic>
        <p:nvPicPr>
          <p:cNvPr id="3" name="Picture 2" descr="fudan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0" y="1508760"/>
            <a:ext cx="69037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61B22"/>
                </a:solidFill>
                <a:latin typeface="Microsoft YaHei"/>
              </a:rPr>
              <a:t>硕士中期汇报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2304288"/>
            <a:ext cx="7178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F4B94"/>
                </a:solidFill>
                <a:latin typeface="Microsoft YaHei"/>
              </a:rPr>
              <a:t>面向具身智能的多模态智能体系统与高效推理研究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2352" y="3209544"/>
            <a:ext cx="5010912" cy="420624"/>
          </a:xfrm>
          <a:prstGeom prst="rect">
            <a:avLst/>
          </a:prstGeom>
          <a:solidFill>
            <a:srgbClr val="1F4B94"/>
          </a:solidFill>
          <a:ln>
            <a:solidFill>
              <a:srgbClr val="1F4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8928" y="3264408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汇报人：陈涛    导师：甘中学、刘力政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4059936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>学号：24210860031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453128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>复旦大学 智能机器人与先进制造创新学院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855464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>2026 年 7 月 27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汇报结构与研究路线</a:t>
            </a:r>
          </a:p>
        </p:txBody>
      </p:sp>
      <p:pic>
        <p:nvPicPr>
          <p:cNvPr id="3" name="Picture 2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225296"/>
            <a:ext cx="5852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F4B94"/>
                </a:solidFill>
                <a:latin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16736" y="1353312"/>
            <a:ext cx="566928" cy="32004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234440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1B22"/>
                </a:solidFill>
                <a:latin typeface="Microsoft YaHei"/>
              </a:rPr>
              <a:t>已有成果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234440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F4B94"/>
                </a:solidFill>
                <a:latin typeface="Microsoft YaHei"/>
              </a:rPr>
              <a:t>Agentic RAG-VLM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43584"/>
            <a:ext cx="4297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6606C"/>
                </a:solidFill>
                <a:latin typeface="Microsoft YaHei"/>
              </a:rPr>
              <a:t>IROS 2026录用；经验检索、场景约束与失败恢复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01952"/>
            <a:ext cx="5852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DE7823"/>
                </a:solidFill>
                <a:latin typeface="Microsoft YaHe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736" y="2029968"/>
            <a:ext cx="566928" cy="32004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11095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1B22"/>
                </a:solidFill>
                <a:latin typeface="Microsoft YaHei"/>
              </a:rPr>
              <a:t>近期进展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11095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DE7823"/>
                </a:solidFill>
                <a:latin typeface="Microsoft YaHei"/>
              </a:rPr>
              <a:t>Agentic VLA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920240"/>
            <a:ext cx="4297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6606C"/>
                </a:solidFill>
                <a:latin typeface="Microsoft YaHei"/>
              </a:rPr>
              <a:t>Agentic Harness 与 Optimize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578608"/>
            <a:ext cx="58521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9877D"/>
                </a:solidFill>
                <a:latin typeface="Microsoft YaHe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16736" y="2706624"/>
            <a:ext cx="566928" cy="32004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87752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61B22"/>
                </a:solidFill>
                <a:latin typeface="Microsoft YaHei"/>
              </a:rPr>
              <a:t>后续计划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587752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9877D"/>
                </a:solidFill>
                <a:latin typeface="Microsoft YaHei"/>
              </a:rPr>
              <a:t>系统完善与验证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596896"/>
            <a:ext cx="4297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56606C"/>
                </a:solidFill>
                <a:latin typeface="Microsoft YaHei"/>
              </a:rPr>
              <a:t>完善闭环执行、运行时管理与实验验证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730752"/>
            <a:ext cx="327355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730752"/>
            <a:ext cx="3273552" cy="54864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95928"/>
            <a:ext cx="2834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1">
                <a:solidFill>
                  <a:srgbClr val="56606C"/>
                </a:solidFill>
                <a:latin typeface="Microsoft YaHei"/>
              </a:rPr>
              <a:t>结构化操作推理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2511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F4B94"/>
                </a:solidFill>
                <a:latin typeface="Microsoft YaHei"/>
              </a:rPr>
              <a:t>Agentic RAG-VLM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72584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161B22"/>
                </a:solidFill>
                <a:latin typeface="Microsoft YaHei"/>
              </a:rPr>
              <a:t>VLM 外层：经验检索、场景约束、反思记忆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4343400"/>
            <a:ext cx="3108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C3CAD3"/>
                </a:solidFill>
                <a:latin typeface="Microsoft YaHe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3730752"/>
            <a:ext cx="327355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43983" y="3730752"/>
            <a:ext cx="3273552" cy="54864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1" y="3995928"/>
            <a:ext cx="2834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1">
                <a:solidFill>
                  <a:srgbClr val="56606C"/>
                </a:solidFill>
                <a:latin typeface="Microsoft YaHei"/>
              </a:rPr>
              <a:t>闭环执行增强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1" y="432511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DE7823"/>
                </a:solidFill>
                <a:latin typeface="Microsoft YaHei"/>
              </a:rPr>
              <a:t>Agentic VLA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4672584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161B22"/>
                </a:solidFill>
                <a:latin typeface="Microsoft YaHei"/>
              </a:rPr>
              <a:t>冻结 VLA 外层：监测、恢复、安全停止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3" y="4343400"/>
            <a:ext cx="3108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C3CAD3"/>
                </a:solidFill>
                <a:latin typeface="Microsoft YaHe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5" y="3730752"/>
            <a:ext cx="327355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5" y="3730752"/>
            <a:ext cx="3273552" cy="54864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3995928"/>
            <a:ext cx="2834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1">
                <a:solidFill>
                  <a:srgbClr val="56606C"/>
                </a:solidFill>
                <a:latin typeface="Microsoft YaHei"/>
              </a:rPr>
              <a:t>运行时效率优化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32511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9877D"/>
                </a:solidFill>
                <a:latin typeface="Microsoft YaHei"/>
              </a:rPr>
              <a:t>Optimize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672584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161B22"/>
                </a:solidFill>
                <a:latin typeface="Microsoft YaHei"/>
              </a:rPr>
              <a:t>管理调用预算、动作复用和运行轨迹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5376672"/>
            <a:ext cx="10936224" cy="484632"/>
          </a:xfrm>
          <a:prstGeom prst="rect">
            <a:avLst/>
          </a:prstGeom>
          <a:solidFill>
            <a:srgbClr val="E7EFFB"/>
          </a:solidFill>
          <a:ln w="10160">
            <a:solidFill>
              <a:srgbClr val="B6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486400"/>
            <a:ext cx="10515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F4B94"/>
                </a:solidFill>
                <a:latin typeface="Microsoft YaHei"/>
              </a:rPr>
              <a:t>研究目标：构建可解释、可恢复、可部署的具身多模态智能体系统。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已有成果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Agentic RAG-VLM 框架总览：面向机器人抓取的结构化操作推理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88720"/>
            <a:ext cx="7717536" cy="3493008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084" y="1243584"/>
            <a:ext cx="7488326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6" y="1188720"/>
            <a:ext cx="285292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188720"/>
            <a:ext cx="2852928" cy="45720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353312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F4B94"/>
                </a:solidFill>
                <a:latin typeface="Microsoft YaHei"/>
              </a:rPr>
              <a:t>任务输入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07592"/>
            <a:ext cx="1444752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61B22"/>
                </a:solidFill>
                <a:latin typeface="Microsoft YaHei"/>
              </a:rPr>
              <a:t>RGB-D 图像、语言指令、目标物体；需要从感知结果转化为可执行抓取。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103120"/>
            <a:ext cx="285292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2103120"/>
            <a:ext cx="2852928" cy="45720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267712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9877D"/>
                </a:solidFill>
                <a:latin typeface="Microsoft YaHei"/>
              </a:rPr>
              <a:t>Agentic 外层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21991"/>
            <a:ext cx="1444752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61B22"/>
                </a:solidFill>
                <a:latin typeface="Microsoft YaHei"/>
              </a:rPr>
              <a:t>检索操作经验、约束空间关系；失败后诊断、重试并写入记忆。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017520"/>
            <a:ext cx="285292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" y="3017520"/>
            <a:ext cx="2852928" cy="45720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182112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DE7823"/>
                </a:solidFill>
                <a:latin typeface="Microsoft YaHei"/>
              </a:rPr>
              <a:t>结构化输出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36391"/>
            <a:ext cx="1444752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61B22"/>
                </a:solidFill>
                <a:latin typeface="Microsoft YaHei"/>
              </a:rPr>
              <a:t>输出 g=(p,d,w,f,τ)，对应位置、方向、宽度、力和抓取类型。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3931920"/>
            <a:ext cx="285292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3931920"/>
            <a:ext cx="2852928" cy="45720"/>
          </a:xfrm>
          <a:prstGeom prst="rect">
            <a:avLst/>
          </a:prstGeom>
          <a:solidFill>
            <a:srgbClr val="34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96511"/>
            <a:ext cx="868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3467B8"/>
                </a:solidFill>
                <a:latin typeface="Microsoft YaHei"/>
              </a:rPr>
              <a:t>核心定位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50791"/>
            <a:ext cx="1444752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61B22"/>
                </a:solidFill>
                <a:latin typeface="Microsoft YaHei"/>
              </a:rPr>
              <a:t>不重新训练基座模型，而是在 VLM 外层组织推理、记忆和恢复流程。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已有成果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HAA-RAG：按操作属性检索可复用经验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424927" cy="4553712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87" y="1353312"/>
            <a:ext cx="5700433" cy="44074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8" y="1298448"/>
            <a:ext cx="2971800" cy="4462272"/>
          </a:xfrm>
          <a:prstGeom prst="rect">
            <a:avLst/>
          </a:prstGeom>
          <a:solidFill>
            <a:srgbClr val="F7F9FC"/>
          </a:solidFill>
          <a:ln w="10160"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554480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F4B94"/>
                </a:solidFill>
                <a:latin typeface="Microsoft YaHei"/>
              </a:rPr>
              <a:t>全称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1901952"/>
            <a:ext cx="22860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1">
                <a:solidFill>
                  <a:srgbClr val="161B22"/>
                </a:solidFill>
                <a:latin typeface="Microsoft YaHei"/>
              </a:rPr>
              <a:t>Hierarchical Affordance-Aware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1">
                <a:solidFill>
                  <a:srgbClr val="161B22"/>
                </a:solidFill>
                <a:latin typeface="Microsoft YaHei"/>
              </a:rPr>
              <a:t>Retrieval-Augmented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22208" y="2688336"/>
            <a:ext cx="2157984" cy="36576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289864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F4B94"/>
                </a:solidFill>
                <a:latin typeface="Microsoft YaHei"/>
              </a:rPr>
              <a:t>要解决的问题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246120"/>
            <a:ext cx="221284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1">
                <a:solidFill>
                  <a:srgbClr val="161B22"/>
                </a:solidFill>
                <a:latin typeface="Microsoft YaHei"/>
              </a:rPr>
              <a:t>视觉相似的物体不一定能用相同抓取方式；需要检索“操作属性相容”的经验。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3931920"/>
            <a:ext cx="2157984" cy="36576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4142232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1">
                <a:solidFill>
                  <a:srgbClr val="1F4B94"/>
                </a:solidFill>
                <a:latin typeface="Microsoft YaHei"/>
              </a:rPr>
              <a:t>检索流程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498848"/>
            <a:ext cx="2331720" cy="10241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950">
                <a:solidFill>
                  <a:srgbClr val="161B22"/>
                </a:solidFill>
                <a:latin typeface="Microsoft YaHei"/>
              </a:rPr>
              <a:t>类别筛选：限定候选经验范围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950">
                <a:solidFill>
                  <a:srgbClr val="161B22"/>
                </a:solidFill>
                <a:latin typeface="Microsoft YaHei"/>
              </a:rPr>
              <a:t>属性匹配：比较类型、材质、脆弱度和可抓取区域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950">
                <a:solidFill>
                  <a:srgbClr val="161B22"/>
                </a:solidFill>
                <a:latin typeface="Microsoft YaHei"/>
              </a:rPr>
              <a:t>视觉重排：结合当前图像选择最相关经验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已有成果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Scene Graph：结构化场景状态与操作约束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7808975" cy="4498848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57146"/>
            <a:ext cx="7662671" cy="37082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22792" y="1298448"/>
            <a:ext cx="2697480" cy="4462272"/>
          </a:xfrm>
          <a:prstGeom prst="rect">
            <a:avLst/>
          </a:prstGeom>
          <a:solidFill>
            <a:srgbClr val="F7F9FC"/>
          </a:solidFill>
          <a:ln w="10160"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591056"/>
            <a:ext cx="17190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9877D"/>
                </a:solidFill>
                <a:latin typeface="Microsoft YaHei"/>
              </a:rPr>
              <a:t>场景图表示什么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48256"/>
            <a:ext cx="1975104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40" b="1">
                <a:solidFill>
                  <a:srgbClr val="161B22"/>
                </a:solidFill>
                <a:latin typeface="Microsoft YaHei"/>
              </a:rPr>
              <a:t>从 VLM 场景分析中构建对象节点与空间关系边，显式表示位置、类别、状态和脆弱度。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926080"/>
            <a:ext cx="1920240" cy="36576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315468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9877D"/>
                </a:solidFill>
                <a:latin typeface="Microsoft YaHei"/>
              </a:rPr>
              <a:t>如何用于操作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3547872"/>
            <a:ext cx="2057400" cy="1188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060">
                <a:solidFill>
                  <a:srgbClr val="161B22"/>
                </a:solidFill>
                <a:latin typeface="Microsoft YaHei"/>
              </a:rPr>
              <a:t>场景图构建：对象节点 + 空间关系边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060">
                <a:solidFill>
                  <a:srgbClr val="161B22"/>
                </a:solidFill>
                <a:latin typeface="Microsoft YaHei"/>
              </a:rPr>
              <a:t>约束推断：状态保持 / 碰撞避免 / 支撑依赖 / 遮挡处理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8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060">
                <a:solidFill>
                  <a:srgbClr val="161B22"/>
                </a:solidFill>
                <a:latin typeface="Microsoft YaHei"/>
              </a:rPr>
              <a:t>输出抓取参数调整：方向、夹持力、接近高度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已有成果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Self-Reflection：失败诊断、分级恢复与情景记忆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25296"/>
            <a:ext cx="7616952" cy="4754880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" y="1694010"/>
            <a:ext cx="7470648" cy="38174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85632" y="1353312"/>
            <a:ext cx="3081528" cy="4507992"/>
          </a:xfrm>
          <a:prstGeom prst="rect">
            <a:avLst/>
          </a:prstGeom>
          <a:solidFill>
            <a:srgbClr val="F7F9FC"/>
          </a:solidFill>
          <a:ln w="10160"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636776"/>
            <a:ext cx="1371600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F4B94"/>
                </a:solidFill>
                <a:latin typeface="Microsoft YaHei"/>
              </a:rPr>
              <a:t>失败诊断与恢复</a:t>
            </a:r>
          </a:p>
        </p:txBody>
      </p:sp>
      <p:sp>
        <p:nvSpPr>
          <p:cNvPr id="99" name="TextBox diagnosis note"/>
          <p:cNvSpPr txBox="1"/>
          <p:nvPr/>
        </p:nvSpPr>
        <p:spPr>
          <a:xfrm>
            <a:off x="8778240" y="2029968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20" b="1">
                <a:solidFill>
                  <a:srgbClr val="161B22"/>
                </a:solidFill>
                <a:latin typeface="Microsoft YaHei"/>
              </a:rPr>
              <a:t>14类失败分为4组，进入 L1-L3 分级恢复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578608"/>
            <a:ext cx="4663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3467B8"/>
                </a:solidFill>
                <a:latin typeface="Microsoft YaHei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578608"/>
            <a:ext cx="15361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</a:rPr>
              <a:t>调整参数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898648"/>
            <a:ext cx="1874519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C"/>
                </a:solidFill>
                <a:latin typeface="Microsoft YaHei"/>
              </a:rPr>
              <a:t>夹持力、宽度、接近高度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328416"/>
            <a:ext cx="4663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DE7823"/>
                </a:solidFill>
                <a:latin typeface="Microsoft YaHei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328416"/>
            <a:ext cx="15361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</a:rPr>
              <a:t>切换抓取类型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648456"/>
            <a:ext cx="1874519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C"/>
                </a:solidFill>
                <a:latin typeface="Microsoft YaHei"/>
              </a:rPr>
              <a:t>Power / Pinch /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078224"/>
            <a:ext cx="466344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B73A35"/>
                </a:solidFill>
                <a:latin typeface="Microsoft YaHe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078224"/>
            <a:ext cx="15361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</a:rPr>
              <a:t>重新规划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398264"/>
            <a:ext cx="1874519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56606C"/>
                </a:solidFill>
                <a:latin typeface="Microsoft YaHei"/>
              </a:rPr>
              <a:t>重置观察并生成新方案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4892040"/>
            <a:ext cx="2340864" cy="36576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120640"/>
            <a:ext cx="2404872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368753"/>
                </a:solidFill>
                <a:latin typeface="Microsoft YaHei"/>
              </a:rPr>
              <a:t>成功策略进入 Episodic Memory，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368753"/>
                </a:solidFill>
                <a:latin typeface="Microsoft YaHei"/>
              </a:rPr>
              <a:t>后续同类对象可检索复用。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近期进展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研究承接：Agentic RAG-VLM 与 Agentic VLA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225296"/>
            <a:ext cx="4892040" cy="2596896"/>
          </a:xfrm>
          <a:prstGeom prst="rect">
            <a:avLst/>
          </a:prstGeom>
          <a:solidFill>
            <a:srgbClr val="E7EFFB"/>
          </a:solidFill>
          <a:ln w="10160">
            <a:solidFill>
              <a:srgbClr val="C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517904"/>
            <a:ext cx="1097280" cy="310896"/>
          </a:xfrm>
          <a:prstGeom prst="rect">
            <a:avLst/>
          </a:prstGeom>
          <a:solidFill>
            <a:srgbClr val="1F4B94"/>
          </a:solidFill>
          <a:ln>
            <a:solidFill>
              <a:srgbClr val="1F4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31619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已有成果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93392"/>
            <a:ext cx="4114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F4B94"/>
                </a:solidFill>
                <a:latin typeface="Microsoft YaHei"/>
              </a:rPr>
              <a:t>Agentic RAG-VLM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23744"/>
            <a:ext cx="4069080" cy="10789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用检索增强获取操作经验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用场景图表示物体关系与约束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用反思和记忆支持失败重试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5856" y="2157984"/>
            <a:ext cx="658368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800" b="1">
                <a:solidFill>
                  <a:srgbClr val="C3CAD3"/>
                </a:solidFill>
                <a:latin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225296"/>
            <a:ext cx="4892040" cy="2596896"/>
          </a:xfrm>
          <a:prstGeom prst="rect">
            <a:avLst/>
          </a:prstGeom>
          <a:solidFill>
            <a:srgbClr val="E8F7F4"/>
          </a:solidFill>
          <a:ln w="10160"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517904"/>
            <a:ext cx="1097280" cy="310896"/>
          </a:xfrm>
          <a:prstGeom prst="rect">
            <a:avLst/>
          </a:prstGeom>
          <a:solidFill>
            <a:srgbClr val="19877D"/>
          </a:solidFill>
          <a:ln>
            <a:solidFill>
              <a:srgbClr val="19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31619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近期进展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93392"/>
            <a:ext cx="4114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9877D"/>
                </a:solidFill>
                <a:latin typeface="Microsoft YaHei"/>
              </a:rPr>
              <a:t>Agentic VLA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23744"/>
            <a:ext cx="4069080" cy="107899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保留 Agentic 的监测、反思和恢复思想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接入冻结 VLA 生成连续动作块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0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400">
                <a:solidFill>
                  <a:srgbClr val="161B22"/>
                </a:solidFill>
                <a:latin typeface="Microsoft YaHei"/>
              </a:rPr>
              <a:t>加入 Runtime 管理推理时延和调用预算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4160520"/>
            <a:ext cx="103144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233672"/>
            <a:ext cx="1097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F4B94"/>
                </a:solidFill>
                <a:latin typeface="Microsoft YaHei"/>
              </a:rPr>
              <a:t>任务层面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4229100"/>
            <a:ext cx="84856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161B22"/>
                </a:solidFill>
                <a:latin typeface="Microsoft YaHei"/>
              </a:rPr>
              <a:t>从桌面抓取规划，扩展到 VLA 控制下的连续操作流程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4636008"/>
            <a:ext cx="103144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709160"/>
            <a:ext cx="1097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F4B94"/>
                </a:solidFill>
                <a:latin typeface="Microsoft YaHei"/>
              </a:rPr>
              <a:t>机制层面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704588"/>
            <a:ext cx="84856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161B22"/>
                </a:solidFill>
                <a:latin typeface="Microsoft YaHei"/>
              </a:rPr>
              <a:t>从 RAG / Scene Graph / Reflection，延续到 Harness / Memory / Critic /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5111496"/>
            <a:ext cx="103144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184648"/>
            <a:ext cx="1097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9877D"/>
                </a:solidFill>
                <a:latin typeface="Microsoft YaHei"/>
              </a:rPr>
              <a:t>模型接口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5180076"/>
            <a:ext cx="84856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161B22"/>
                </a:solidFill>
                <a:latin typeface="Microsoft YaHei"/>
              </a:rPr>
              <a:t>从 VLM 输出高层操作参数，扩展到 VLA 输出可执行动作序列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586983"/>
            <a:ext cx="103144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660136"/>
            <a:ext cx="1097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9877D"/>
                </a:solidFill>
                <a:latin typeface="Microsoft YaHei"/>
              </a:rPr>
              <a:t>工程目标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655564"/>
            <a:ext cx="84856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0">
                <a:solidFill>
                  <a:srgbClr val="161B22"/>
                </a:solidFill>
                <a:latin typeface="Microsoft YaHei"/>
              </a:rPr>
              <a:t>从提升决策可靠性，进一步关注闭环稳定性与高效推理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近期进展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Agentic VLA：VLA 上的过程控制与闭环监督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170432"/>
            <a:ext cx="7900416" cy="3694176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1" y="1314334"/>
            <a:ext cx="7790688" cy="34063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216" y="1188720"/>
            <a:ext cx="276148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188720"/>
            <a:ext cx="2761488" cy="45720"/>
          </a:xfrm>
          <a:prstGeom prst="rect">
            <a:avLst/>
          </a:prstGeom>
          <a:solidFill>
            <a:srgbClr val="34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353312"/>
            <a:ext cx="12618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3467B8"/>
                </a:solidFill>
                <a:latin typeface="Microsoft YaHei"/>
              </a:rPr>
              <a:t>Frozen VLA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1307592"/>
            <a:ext cx="987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161B22"/>
                </a:solidFill>
                <a:latin typeface="Microsoft YaHei"/>
              </a:rPr>
              <a:t>VLA 保持冻结，按需生成连续 action chunk。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103120"/>
            <a:ext cx="276148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2103120"/>
            <a:ext cx="2761488" cy="45720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267712"/>
            <a:ext cx="12618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DE7823"/>
                </a:solidFill>
                <a:latin typeface="Microsoft YaHei"/>
              </a:rPr>
              <a:t>Process-Control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3" y="2221991"/>
            <a:ext cx="987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161B22"/>
                </a:solidFill>
                <a:latin typeface="Microsoft YaHei"/>
              </a:rPr>
              <a:t>Risk Monitor 高频检测；VLM Critic 低频语义判断。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017520"/>
            <a:ext cx="276148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" y="3017520"/>
            <a:ext cx="2761488" cy="45720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12618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9877D"/>
                </a:solidFill>
                <a:latin typeface="Microsoft YaHei"/>
              </a:rPr>
              <a:t>Optimize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3" y="3136391"/>
            <a:ext cx="987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161B22"/>
                </a:solidFill>
                <a:latin typeface="Microsoft YaHei"/>
              </a:rPr>
              <a:t>时延感知调度、动作复用和调用预算管理。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3931920"/>
            <a:ext cx="2761488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3931920"/>
            <a:ext cx="2761488" cy="45720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096511"/>
            <a:ext cx="12618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1F4B94"/>
                </a:solidFill>
                <a:latin typeface="Microsoft YaHei"/>
              </a:rPr>
              <a:t>研究定位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66543" y="4050791"/>
            <a:ext cx="987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161B22"/>
                </a:solidFill>
                <a:latin typeface="Microsoft YaHei"/>
              </a:rPr>
              <a:t>系统层增强 VLA；语义判断低频接入。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近期进展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Optimize Runtime：面向实时约束的 VLA 调用管理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43584"/>
            <a:ext cx="8101583" cy="4498848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_realtime_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01393"/>
            <a:ext cx="7955279" cy="29832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60536" y="1243584"/>
            <a:ext cx="2697480" cy="4498848"/>
          </a:xfrm>
          <a:prstGeom prst="rect">
            <a:avLst/>
          </a:prstGeom>
          <a:solidFill>
            <a:srgbClr val="F7F9FC"/>
          </a:solidFill>
          <a:ln w="10160"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527048"/>
            <a:ext cx="215798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19877D"/>
                </a:solidFill>
                <a:latin typeface="Microsoft YaHei"/>
              </a:rPr>
              <a:t>运行时机制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6568" y="2020824"/>
            <a:ext cx="329184" cy="329184"/>
          </a:xfrm>
          <a:prstGeom prst="rect">
            <a:avLst/>
          </a:prstGeom>
          <a:solidFill>
            <a:srgbClr val="1F4B94"/>
          </a:solidFill>
          <a:ln>
            <a:solidFill>
              <a:srgbClr val="1F4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2075688"/>
            <a:ext cx="228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002536"/>
            <a:ext cx="151790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40" b="1">
                <a:solidFill>
                  <a:srgbClr val="1F4B94"/>
                </a:solidFill>
                <a:latin typeface="Microsoft YaHei"/>
              </a:rPr>
              <a:t>Low-step sampler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286000"/>
            <a:ext cx="158191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56606C"/>
                </a:solidFill>
                <a:latin typeface="Microsoft YaHei"/>
              </a:rPr>
              <a:t>少步采样，降低单次调用成本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16568" y="2734056"/>
            <a:ext cx="329184" cy="329184"/>
          </a:xfrm>
          <a:prstGeom prst="rect">
            <a:avLst/>
          </a:prstGeom>
          <a:solidFill>
            <a:srgbClr val="19877D"/>
          </a:solidFill>
          <a:ln>
            <a:solidFill>
              <a:srgbClr val="19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2788920"/>
            <a:ext cx="228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715768"/>
            <a:ext cx="151790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40" b="1">
                <a:solidFill>
                  <a:srgbClr val="19877D"/>
                </a:solidFill>
                <a:latin typeface="Microsoft YaHei"/>
              </a:rPr>
              <a:t>Call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999232"/>
            <a:ext cx="158191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56606C"/>
                </a:solidFill>
                <a:latin typeface="Microsoft YaHei"/>
              </a:rPr>
              <a:t>判断是否需要昂贵 full VLA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6568" y="3447288"/>
            <a:ext cx="329184" cy="329184"/>
          </a:xfrm>
          <a:prstGeom prst="rect">
            <a:avLst/>
          </a:prstGeom>
          <a:solidFill>
            <a:srgbClr val="DE7823"/>
          </a:solidFill>
          <a:ln>
            <a:solidFill>
              <a:srgbClr val="DE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3502152"/>
            <a:ext cx="228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429000"/>
            <a:ext cx="151790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40" b="1">
                <a:solidFill>
                  <a:srgbClr val="DE7823"/>
                </a:solidFill>
                <a:latin typeface="Microsoft YaHei"/>
              </a:rPr>
              <a:t>Action reuse /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12463"/>
            <a:ext cx="158191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56606C"/>
                </a:solidFill>
                <a:latin typeface="Microsoft YaHei"/>
              </a:rPr>
              <a:t>未触发异常时复用动作块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8" y="4160520"/>
            <a:ext cx="329184" cy="329184"/>
          </a:xfrm>
          <a:prstGeom prst="rect">
            <a:avLst/>
          </a:prstGeom>
          <a:solidFill>
            <a:srgbClr val="368753"/>
          </a:solidFill>
          <a:ln>
            <a:solidFill>
              <a:srgbClr val="36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4215383"/>
            <a:ext cx="228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142232"/>
            <a:ext cx="151790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40" b="1">
                <a:solidFill>
                  <a:srgbClr val="368753"/>
                </a:solidFill>
                <a:latin typeface="Microsoft YaHei"/>
              </a:rPr>
              <a:t>Runtime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425696"/>
            <a:ext cx="158191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>
                <a:solidFill>
                  <a:srgbClr val="56606C"/>
                </a:solidFill>
                <a:latin typeface="Microsoft YaHei"/>
              </a:rPr>
              <a:t>记录调用次数、时延和实时超时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5712" y="5074920"/>
            <a:ext cx="2011680" cy="36576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5230368"/>
            <a:ext cx="8046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9877D"/>
                </a:solidFill>
                <a:latin typeface="Microsoft YaHei"/>
              </a:rPr>
              <a:t>系统作用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5166360"/>
            <a:ext cx="12070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>
                <a:solidFill>
                  <a:srgbClr val="161B22"/>
                </a:solidFill>
                <a:latin typeface="Microsoft YaHei"/>
              </a:rPr>
              <a:t>Runtime 不替代 VLA，而是在执行循环中决定何时调用、复用、恢复和记录。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阶段总结与后续计划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71600"/>
            <a:ext cx="5090000" cy="68580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73352"/>
            <a:ext cx="509000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F4B94"/>
                </a:solidFill>
                <a:latin typeface="Microsoft YaHei"/>
              </a:rPr>
              <a:t>已有成果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59152"/>
            <a:ext cx="5090000" cy="2500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buChar char="●"/>
            </a:pPr>
            <a:r>
              <a:rPr lang="zh-CN" sz="1350"/>
              <a:t>  Agentic RAG-VLM 获 IROS 2026 录用</a:t>
            </a:r>
          </a:p>
          <a:p>
            <a:pPr>
              <a:buChar char="●"/>
            </a:pPr>
            <a:r>
              <a:rPr lang="zh-CN" sz="1350"/>
              <a:t>  完成经验检索、场景约束、反思与记忆框架</a:t>
            </a:r>
          </a:p>
          <a:p>
            <a:pPr>
              <a:buChar char="●"/>
            </a:pPr>
            <a:r>
              <a:rPr lang="zh-CN" sz="1350"/>
              <a:t>  搭建 Agentic VLA Harness 与冻结 VLA 接入</a:t>
            </a:r>
          </a:p>
          <a:p>
            <a:pPr>
              <a:buChar char="●"/>
            </a:pPr>
            <a:r>
              <a:rPr lang="zh-CN" sz="1350"/>
              <a:t>  完成物理恢复、安全停止、运行轨迹与 Runtime 指标整理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2400" y="1371600"/>
            <a:ext cx="5090000" cy="68580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400" y="1673352"/>
            <a:ext cx="509000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DE7823"/>
                </a:solidFill>
                <a:latin typeface="Microsoft YaHei"/>
              </a:rPr>
              <a:t>后续计划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2400" y="2359152"/>
            <a:ext cx="5090000" cy="2500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buChar char="●"/>
            </a:pPr>
            <a:r>
              <a:rPr lang="zh-CN" sz="1350"/>
              <a:t>  完善 VLM Critic / Planner 的事件触发协作</a:t>
            </a:r>
          </a:p>
          <a:p>
            <a:pPr>
              <a:buChar char="●"/>
            </a:pPr>
            <a:r>
              <a:rPr lang="zh-CN" sz="1350"/>
              <a:t>  深化 Runtime 推理优化：调用调度、动作复用与实时超时分析</a:t>
            </a:r>
          </a:p>
          <a:p>
            <a:pPr>
              <a:buChar char="●"/>
            </a:pPr>
            <a:r>
              <a:rPr lang="zh-CN" sz="1350"/>
              <a:t>  扩大物理仿真任务与长程闭环验证</a:t>
            </a:r>
          </a:p>
          <a:p>
            <a:pPr>
              <a:buChar char="●"/>
            </a:pPr>
            <a:r>
              <a:rPr lang="zh-CN" sz="1350"/>
              <a:t>  整理论文实验、系统图示与汇报材料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001768"/>
            <a:ext cx="11045952" cy="841248"/>
          </a:xfrm>
          <a:prstGeom prst="rect">
            <a:avLst/>
          </a:prstGeom>
          <a:solidFill>
            <a:srgbClr val="E7EFFB"/>
          </a:solidFill>
          <a:ln w="10160">
            <a:solidFill>
              <a:srgbClr val="B6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285232"/>
            <a:ext cx="100584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F4B94"/>
                </a:solidFill>
                <a:latin typeface="Microsoft YaHei"/>
              </a:rPr>
              <a:t>研究主线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5239512"/>
            <a:ext cx="923544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B22"/>
                </a:solidFill>
                <a:latin typeface="Microsoft YaHei"/>
              </a:rPr>
              <a:t>让多模态模型不仅能理解任务，还能在执行过程中持续监测、恢复并满足实时部署约束。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备份：Agentic Harness 执行监督与可重试控制循环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16736"/>
            <a:ext cx="7882127" cy="4553712"/>
          </a:xfrm>
          <a:prstGeom prst="rect">
            <a:avLst/>
          </a:prstGeom>
          <a:solidFill>
            <a:srgbClr val="FFFFFF"/>
          </a:solidFill>
          <a:ln w="8890">
            <a:solidFill>
              <a:srgbClr val="DB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execution_super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" y="2143125"/>
            <a:ext cx="7735823" cy="29009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68512" y="1362456"/>
            <a:ext cx="2880360" cy="4562856"/>
          </a:xfrm>
          <a:prstGeom prst="rect">
            <a:avLst/>
          </a:prstGeom>
          <a:solidFill>
            <a:srgbClr val="F7F9FC"/>
          </a:solidFill>
          <a:ln w="10160">
            <a:solidFill>
              <a:srgbClr val="C3C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42832" y="1645920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F4B94"/>
                </a:solidFill>
                <a:latin typeface="Microsoft YaHei"/>
              </a:rPr>
              <a:t>一次控制周期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544" y="2121408"/>
            <a:ext cx="2313432" cy="30906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Observe：读取图像、状态与动作年龄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Query：按需向冻结 VLA 请求动作块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Execute：执行部分动作并监测进展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Critic：识别停滞、陈旧或越界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Recover：物理恢复、重观察与重规划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8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250">
                <a:solidFill>
                  <a:srgbClr val="161B22"/>
                </a:solidFill>
                <a:latin typeface="Microsoft YaHei"/>
              </a:rPr>
              <a:t>Verify：验证结果，否则安全停止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4630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F4B94"/>
                </a:solidFill>
                <a:latin typeface="Microsoft YaHei"/>
              </a:rPr>
              <a:t>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393192"/>
            <a:ext cx="88879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400" b="1">
                <a:solidFill>
                  <a:srgbClr val="161B22"/>
                </a:solidFill>
                <a:latin typeface="Microsoft YaHei"/>
              </a:rPr>
              <a:t>备份：Agentic RAG-VLM 实验验证概览</a:t>
            </a:r>
          </a:p>
        </p:txBody>
      </p:sp>
      <p:pic>
        <p:nvPicPr>
          <p:cNvPr id="4" name="Picture 3" descr="fudan_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932688"/>
            <a:ext cx="11265408" cy="14630"/>
          </a:xfrm>
          <a:prstGeom prst="rect">
            <a:avLst/>
          </a:prstGeom>
          <a:solidFill>
            <a:srgbClr val="C3C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>
                <a:solidFill>
                  <a:srgbClr val="56606C"/>
                </a:solidFill>
                <a:latin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371600"/>
            <a:ext cx="3246120" cy="68580"/>
          </a:xfrm>
          <a:prstGeom prst="rect">
            <a:avLst/>
          </a:prstGeom>
          <a:solidFill>
            <a:srgbClr val="1F4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73352"/>
            <a:ext cx="324612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F4B94"/>
                </a:solidFill>
                <a:latin typeface="Microsoft YaHei"/>
              </a:rPr>
              <a:t>实验设置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59152"/>
            <a:ext cx="3154680" cy="223113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12项机器人抓取任务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覆盖单抓取、交互约束、长程清理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F4B94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用于组件消融与机制趋势验证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371600"/>
            <a:ext cx="3246120" cy="68580"/>
          </a:xfrm>
          <a:prstGeom prst="rect">
            <a:avLst/>
          </a:prstGeom>
          <a:solidFill>
            <a:srgbClr val="DE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673352"/>
            <a:ext cx="324612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DE7823"/>
                </a:solidFill>
                <a:latin typeface="Microsoft YaHei"/>
              </a:rPr>
              <a:t>对比与消融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359152"/>
            <a:ext cx="3154680" cy="223113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DE7823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VLM-only 作为基础模型对照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DE7823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移除 HAA-RAG / Scene Graph / Recovery / Memory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DE7823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观察各模块对成功与恢复能力的影响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371600"/>
            <a:ext cx="3246120" cy="68580"/>
          </a:xfrm>
          <a:prstGeom prst="rect">
            <a:avLst/>
          </a:prstGeom>
          <a:solidFill>
            <a:srgbClr val="19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673352"/>
            <a:ext cx="324612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9877D"/>
                </a:solidFill>
                <a:latin typeface="Microsoft YaHei"/>
              </a:rPr>
              <a:t>机制结论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359152"/>
            <a:ext cx="3154680" cy="223113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HAA-RAG 提供操作经验基础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Scene Graph 支持空间约束处理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19877D"/>
                </a:solidFill>
                <a:latin typeface="Microsoft YaHei"/>
              </a:rPr>
              <a:t>●  </a:t>
            </a:r>
            <a:r>
              <a:rPr sz="1350">
                <a:solidFill>
                  <a:srgbClr val="161B22"/>
                </a:solidFill>
                <a:latin typeface="Microsoft YaHei"/>
              </a:rPr>
              <a:t>Self-Reflection 提升失败恢复和长程稳定性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001768"/>
            <a:ext cx="11045952" cy="841248"/>
          </a:xfrm>
          <a:prstGeom prst="rect">
            <a:avLst/>
          </a:prstGeom>
          <a:solidFill>
            <a:srgbClr val="E7EFFB"/>
          </a:solidFill>
          <a:ln w="10160">
            <a:solidFill>
              <a:srgbClr val="B6C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285232"/>
            <a:ext cx="100584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F4B94"/>
                </a:solidFill>
                <a:latin typeface="Microsoft YaHei"/>
              </a:rPr>
              <a:t>使用方式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5239512"/>
            <a:ext cx="923544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B22"/>
                </a:solidFill>
                <a:latin typeface="Microsoft YaHei"/>
              </a:rPr>
              <a:t>主线不主动展开具体数值；如被问到实验验证，用本页说明设置、对比和机制结论。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6117336"/>
            <a:ext cx="3657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F4B94"/>
                </a:solidFill>
                <a:latin typeface="Microsoft YaHei"/>
              </a:rPr>
              <a:t>备份页</a:t>
            </a:r>
          </a:p>
        </p:txBody>
      </p:sp>
      <p:sp>
        <p:nvSpPr>
          <p:cNvPr id="20" name="Rect 20"/>
          <p:cNvSpPr/>
          <p:nvPr/>
        </p:nvSpPr>
        <p:spPr>
          <a:xfrm>
            <a:off x="457200" y="1115568"/>
            <a:ext cx="11292840" cy="532180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21792" y="1225296"/>
            <a:ext cx="6629400" cy="310896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F4B94"/>
                </a:solidFill>
                <a:latin typeface="Microsoft YaHei"/>
              </a:rPr>
              <a:t>Component Analysis on 12-task Benchmark</a:t>
            </a:r>
          </a:p>
        </p:txBody>
      </p:sp>
      <p:sp>
        <p:nvSpPr>
          <p:cNvPr id="22" name="Rect 22"/>
          <p:cNvSpPr/>
          <p:nvPr/>
        </p:nvSpPr>
        <p:spPr>
          <a:xfrm>
            <a:off x="640080" y="1673352"/>
            <a:ext cx="2084832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7512" y="1792224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Config.</a:t>
            </a:r>
          </a:p>
        </p:txBody>
      </p:sp>
      <p:sp>
        <p:nvSpPr>
          <p:cNvPr id="24" name="Rect 24"/>
          <p:cNvSpPr/>
          <p:nvPr/>
        </p:nvSpPr>
        <p:spPr>
          <a:xfrm>
            <a:off x="2816352" y="1673352"/>
            <a:ext cx="694944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843784" y="179222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SG</a:t>
            </a:r>
          </a:p>
        </p:txBody>
      </p:sp>
      <p:sp>
        <p:nvSpPr>
          <p:cNvPr id="26" name="Rect 26"/>
          <p:cNvSpPr/>
          <p:nvPr/>
        </p:nvSpPr>
        <p:spPr>
          <a:xfrm>
            <a:off x="3611880" y="1673352"/>
            <a:ext cx="694944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639312" y="179222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IT</a:t>
            </a:r>
          </a:p>
        </p:txBody>
      </p:sp>
      <p:sp>
        <p:nvSpPr>
          <p:cNvPr id="28" name="Rect 28"/>
          <p:cNvSpPr/>
          <p:nvPr/>
        </p:nvSpPr>
        <p:spPr>
          <a:xfrm>
            <a:off x="4407408" y="1673352"/>
            <a:ext cx="694944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434840" y="179222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LH</a:t>
            </a:r>
          </a:p>
        </p:txBody>
      </p:sp>
      <p:sp>
        <p:nvSpPr>
          <p:cNvPr id="30" name="Rect 30"/>
          <p:cNvSpPr/>
          <p:nvPr/>
        </p:nvSpPr>
        <p:spPr>
          <a:xfrm>
            <a:off x="5202936" y="1673352"/>
            <a:ext cx="841248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230368" y="1792224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Overall</a:t>
            </a:r>
          </a:p>
        </p:txBody>
      </p:sp>
      <p:sp>
        <p:nvSpPr>
          <p:cNvPr id="32" name="Rect 32"/>
          <p:cNvSpPr/>
          <p:nvPr/>
        </p:nvSpPr>
        <p:spPr>
          <a:xfrm>
            <a:off x="6126480" y="1673352"/>
            <a:ext cx="749808" cy="448056"/>
          </a:xfrm>
          <a:prstGeom prst="rect">
            <a:avLst/>
          </a:prstGeom>
          <a:solidFill>
            <a:srgbClr val="E7EFFB"/>
          </a:solidFill>
          <a:ln w="4800">
            <a:solidFill>
              <a:srgbClr val="B6CC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153912" y="1792224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1F4B94"/>
                </a:solidFill>
                <a:latin typeface="Microsoft YaHei"/>
              </a:rPr>
              <a:t>Delta</a:t>
            </a:r>
          </a:p>
        </p:txBody>
      </p:sp>
      <p:sp>
        <p:nvSpPr>
          <p:cNvPr id="34" name="Rect 34"/>
          <p:cNvSpPr/>
          <p:nvPr/>
        </p:nvSpPr>
        <p:spPr>
          <a:xfrm>
            <a:off x="640080" y="2121408"/>
            <a:ext cx="2084832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7512" y="2240280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Ours</a:t>
            </a:r>
          </a:p>
        </p:txBody>
      </p:sp>
      <p:sp>
        <p:nvSpPr>
          <p:cNvPr id="36" name="Rect 36"/>
          <p:cNvSpPr/>
          <p:nvPr/>
        </p:nvSpPr>
        <p:spPr>
          <a:xfrm>
            <a:off x="2816352" y="2121408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2843784" y="2240280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91.7</a:t>
            </a:r>
          </a:p>
        </p:txBody>
      </p:sp>
      <p:sp>
        <p:nvSpPr>
          <p:cNvPr id="38" name="Rect 38"/>
          <p:cNvSpPr/>
          <p:nvPr/>
        </p:nvSpPr>
        <p:spPr>
          <a:xfrm>
            <a:off x="3611880" y="2121408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639312" y="2240280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64.2</a:t>
            </a:r>
          </a:p>
        </p:txBody>
      </p:sp>
      <p:sp>
        <p:nvSpPr>
          <p:cNvPr id="40" name="Rect 40"/>
          <p:cNvSpPr/>
          <p:nvPr/>
        </p:nvSpPr>
        <p:spPr>
          <a:xfrm>
            <a:off x="4407408" y="2121408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434840" y="2240280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66.7</a:t>
            </a:r>
          </a:p>
        </p:txBody>
      </p:sp>
      <p:sp>
        <p:nvSpPr>
          <p:cNvPr id="42" name="Rect 42"/>
          <p:cNvSpPr/>
          <p:nvPr/>
        </p:nvSpPr>
        <p:spPr>
          <a:xfrm>
            <a:off x="5202936" y="2121408"/>
            <a:ext cx="84124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230368" y="2240280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78.3</a:t>
            </a:r>
          </a:p>
        </p:txBody>
      </p:sp>
      <p:sp>
        <p:nvSpPr>
          <p:cNvPr id="44" name="Rect 44"/>
          <p:cNvSpPr/>
          <p:nvPr/>
        </p:nvSpPr>
        <p:spPr>
          <a:xfrm>
            <a:off x="6126480" y="2121408"/>
            <a:ext cx="74980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153912" y="2240280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F4B94"/>
                </a:solidFill>
                <a:latin typeface="Microsoft YaHei"/>
              </a:rPr>
              <a:t>--</a:t>
            </a:r>
          </a:p>
        </p:txBody>
      </p:sp>
      <p:sp>
        <p:nvSpPr>
          <p:cNvPr id="46" name="Rect 46"/>
          <p:cNvSpPr/>
          <p:nvPr/>
        </p:nvSpPr>
        <p:spPr>
          <a:xfrm>
            <a:off x="640080" y="2569464"/>
            <a:ext cx="2084832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67512" y="2688336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w/o HAA-RAG</a:t>
            </a:r>
          </a:p>
        </p:txBody>
      </p:sp>
      <p:sp>
        <p:nvSpPr>
          <p:cNvPr id="48" name="Rect 48"/>
          <p:cNvSpPr/>
          <p:nvPr/>
        </p:nvSpPr>
        <p:spPr>
          <a:xfrm>
            <a:off x="2816352" y="2569464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43784" y="2688336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50.0</a:t>
            </a:r>
          </a:p>
        </p:txBody>
      </p:sp>
      <p:sp>
        <p:nvSpPr>
          <p:cNvPr id="50" name="Rect 50"/>
          <p:cNvSpPr/>
          <p:nvPr/>
        </p:nvSpPr>
        <p:spPr>
          <a:xfrm>
            <a:off x="3611880" y="2569464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639312" y="2688336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0.0</a:t>
            </a:r>
          </a:p>
        </p:txBody>
      </p:sp>
      <p:sp>
        <p:nvSpPr>
          <p:cNvPr id="52" name="Rect 52"/>
          <p:cNvSpPr/>
          <p:nvPr/>
        </p:nvSpPr>
        <p:spPr>
          <a:xfrm>
            <a:off x="4407408" y="2569464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4434840" y="2688336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0.0</a:t>
            </a:r>
          </a:p>
        </p:txBody>
      </p:sp>
      <p:sp>
        <p:nvSpPr>
          <p:cNvPr id="54" name="Rect 54"/>
          <p:cNvSpPr/>
          <p:nvPr/>
        </p:nvSpPr>
        <p:spPr>
          <a:xfrm>
            <a:off x="5202936" y="2569464"/>
            <a:ext cx="841248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230368" y="2688336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25.0</a:t>
            </a:r>
          </a:p>
        </p:txBody>
      </p:sp>
      <p:sp>
        <p:nvSpPr>
          <p:cNvPr id="56" name="Rect 56"/>
          <p:cNvSpPr/>
          <p:nvPr/>
        </p:nvSpPr>
        <p:spPr>
          <a:xfrm>
            <a:off x="6126480" y="2569464"/>
            <a:ext cx="749808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153912" y="2688336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-53.3</a:t>
            </a:r>
          </a:p>
        </p:txBody>
      </p:sp>
      <p:sp>
        <p:nvSpPr>
          <p:cNvPr id="58" name="Rect 58"/>
          <p:cNvSpPr/>
          <p:nvPr/>
        </p:nvSpPr>
        <p:spPr>
          <a:xfrm>
            <a:off x="640080" y="3017520"/>
            <a:ext cx="2084832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67512" y="3136392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w/o Scene Graph</a:t>
            </a:r>
          </a:p>
        </p:txBody>
      </p:sp>
      <p:sp>
        <p:nvSpPr>
          <p:cNvPr id="60" name="Rect 60"/>
          <p:cNvSpPr/>
          <p:nvPr/>
        </p:nvSpPr>
        <p:spPr>
          <a:xfrm>
            <a:off x="2816352" y="3017520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2843784" y="313639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91.7</a:t>
            </a:r>
          </a:p>
        </p:txBody>
      </p:sp>
      <p:sp>
        <p:nvSpPr>
          <p:cNvPr id="62" name="Rect 62"/>
          <p:cNvSpPr/>
          <p:nvPr/>
        </p:nvSpPr>
        <p:spPr>
          <a:xfrm>
            <a:off x="3611880" y="3017520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639312" y="313639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25.0</a:t>
            </a:r>
          </a:p>
        </p:txBody>
      </p:sp>
      <p:sp>
        <p:nvSpPr>
          <p:cNvPr id="64" name="Rect 64"/>
          <p:cNvSpPr/>
          <p:nvPr/>
        </p:nvSpPr>
        <p:spPr>
          <a:xfrm>
            <a:off x="4407408" y="3017520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4434840" y="313639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66.7</a:t>
            </a:r>
          </a:p>
        </p:txBody>
      </p:sp>
      <p:sp>
        <p:nvSpPr>
          <p:cNvPr id="66" name="Rect 66"/>
          <p:cNvSpPr/>
          <p:nvPr/>
        </p:nvSpPr>
        <p:spPr>
          <a:xfrm>
            <a:off x="5202936" y="3017520"/>
            <a:ext cx="84124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230368" y="3136392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65.3</a:t>
            </a:r>
          </a:p>
        </p:txBody>
      </p:sp>
      <p:sp>
        <p:nvSpPr>
          <p:cNvPr id="68" name="Rect 68"/>
          <p:cNvSpPr/>
          <p:nvPr/>
        </p:nvSpPr>
        <p:spPr>
          <a:xfrm>
            <a:off x="6126480" y="3017520"/>
            <a:ext cx="74980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6153912" y="3136392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-13.0</a:t>
            </a:r>
          </a:p>
        </p:txBody>
      </p:sp>
      <p:sp>
        <p:nvSpPr>
          <p:cNvPr id="70" name="Rect 70"/>
          <p:cNvSpPr/>
          <p:nvPr/>
        </p:nvSpPr>
        <p:spPr>
          <a:xfrm>
            <a:off x="640080" y="3465576"/>
            <a:ext cx="2084832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667512" y="3584448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w/o Recovery</a:t>
            </a:r>
          </a:p>
        </p:txBody>
      </p:sp>
      <p:sp>
        <p:nvSpPr>
          <p:cNvPr id="72" name="Rect 72"/>
          <p:cNvSpPr/>
          <p:nvPr/>
        </p:nvSpPr>
        <p:spPr>
          <a:xfrm>
            <a:off x="2816352" y="3465576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2843784" y="358444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63.3</a:t>
            </a:r>
          </a:p>
        </p:txBody>
      </p:sp>
      <p:sp>
        <p:nvSpPr>
          <p:cNvPr id="74" name="Rect 74"/>
          <p:cNvSpPr/>
          <p:nvPr/>
        </p:nvSpPr>
        <p:spPr>
          <a:xfrm>
            <a:off x="3611880" y="3465576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3639312" y="358444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33.3</a:t>
            </a:r>
          </a:p>
        </p:txBody>
      </p:sp>
      <p:sp>
        <p:nvSpPr>
          <p:cNvPr id="76" name="Rect 76"/>
          <p:cNvSpPr/>
          <p:nvPr/>
        </p:nvSpPr>
        <p:spPr>
          <a:xfrm>
            <a:off x="4407408" y="3465576"/>
            <a:ext cx="694944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4434840" y="3584448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23.3</a:t>
            </a:r>
          </a:p>
        </p:txBody>
      </p:sp>
      <p:sp>
        <p:nvSpPr>
          <p:cNvPr id="78" name="Rect 78"/>
          <p:cNvSpPr/>
          <p:nvPr/>
        </p:nvSpPr>
        <p:spPr>
          <a:xfrm>
            <a:off x="5202936" y="3465576"/>
            <a:ext cx="841248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5230368" y="3584448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46.7</a:t>
            </a:r>
          </a:p>
        </p:txBody>
      </p:sp>
      <p:sp>
        <p:nvSpPr>
          <p:cNvPr id="80" name="Rect 80"/>
          <p:cNvSpPr/>
          <p:nvPr/>
        </p:nvSpPr>
        <p:spPr>
          <a:xfrm>
            <a:off x="6126480" y="3465576"/>
            <a:ext cx="749808" cy="448056"/>
          </a:xfrm>
          <a:prstGeom prst="rect">
            <a:avLst/>
          </a:prstGeom>
          <a:solidFill>
            <a:srgbClr val="F7F9FC"/>
          </a:solidFill>
          <a:ln w="4200">
            <a:solidFill>
              <a:srgbClr val="DAE1E9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153912" y="3584448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-31.6</a:t>
            </a:r>
          </a:p>
        </p:txBody>
      </p:sp>
      <p:sp>
        <p:nvSpPr>
          <p:cNvPr id="82" name="Rect 82"/>
          <p:cNvSpPr/>
          <p:nvPr/>
        </p:nvSpPr>
        <p:spPr>
          <a:xfrm>
            <a:off x="640080" y="3913632"/>
            <a:ext cx="2084832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667512" y="4032504"/>
            <a:ext cx="2029968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VLM-Only</a:t>
            </a:r>
          </a:p>
        </p:txBody>
      </p:sp>
      <p:sp>
        <p:nvSpPr>
          <p:cNvPr id="84" name="Rect 84"/>
          <p:cNvSpPr/>
          <p:nvPr/>
        </p:nvSpPr>
        <p:spPr>
          <a:xfrm>
            <a:off x="2816352" y="3913632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2843784" y="403250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50.0</a:t>
            </a:r>
          </a:p>
        </p:txBody>
      </p:sp>
      <p:sp>
        <p:nvSpPr>
          <p:cNvPr id="86" name="Rect 86"/>
          <p:cNvSpPr/>
          <p:nvPr/>
        </p:nvSpPr>
        <p:spPr>
          <a:xfrm>
            <a:off x="3611880" y="3913632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39312" y="403250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0.0</a:t>
            </a:r>
          </a:p>
        </p:txBody>
      </p:sp>
      <p:sp>
        <p:nvSpPr>
          <p:cNvPr id="88" name="Rect 88"/>
          <p:cNvSpPr/>
          <p:nvPr/>
        </p:nvSpPr>
        <p:spPr>
          <a:xfrm>
            <a:off x="4407408" y="3913632"/>
            <a:ext cx="694944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4434840" y="403250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0.0</a:t>
            </a:r>
          </a:p>
        </p:txBody>
      </p:sp>
      <p:sp>
        <p:nvSpPr>
          <p:cNvPr id="90" name="Rect 90"/>
          <p:cNvSpPr/>
          <p:nvPr/>
        </p:nvSpPr>
        <p:spPr>
          <a:xfrm>
            <a:off x="5202936" y="3913632"/>
            <a:ext cx="84124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5230368" y="4032504"/>
            <a:ext cx="78638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25.0</a:t>
            </a:r>
          </a:p>
        </p:txBody>
      </p:sp>
      <p:sp>
        <p:nvSpPr>
          <p:cNvPr id="92" name="Rect 92"/>
          <p:cNvSpPr/>
          <p:nvPr/>
        </p:nvSpPr>
        <p:spPr>
          <a:xfrm>
            <a:off x="6126480" y="3913632"/>
            <a:ext cx="749808" cy="448056"/>
          </a:xfrm>
          <a:prstGeom prst="rect">
            <a:avLst/>
          </a:prstGeom>
          <a:solidFill>
            <a:srgbClr val="FFFFFF"/>
          </a:solidFill>
          <a:ln w="4200">
            <a:solidFill>
              <a:srgbClr val="DAE1E9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6153912" y="4032504"/>
            <a:ext cx="694944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>
                <a:solidFill>
                  <a:srgbClr val="161B22"/>
                </a:solidFill>
                <a:latin typeface="Microsoft YaHei"/>
              </a:rPr>
              <a:t>-53.3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58368" y="4617720"/>
            <a:ext cx="6858000" cy="256032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>
                <a:solidFill>
                  <a:srgbClr val="56606C"/>
                </a:solidFill>
                <a:latin typeface="Microsoft YaHei"/>
              </a:rPr>
              <a:t>SG/IT/LH: single-grasp / interactive / long-horizon.
12 tasks x 30 trials; values are success rates (%); Delta: drop vs. full system.</a:t>
            </a:r>
          </a:p>
        </p:txBody>
      </p:sp>
      <p:sp>
        <p:nvSpPr>
          <p:cNvPr id="95" name="Rect 95"/>
          <p:cNvSpPr/>
          <p:nvPr/>
        </p:nvSpPr>
        <p:spPr>
          <a:xfrm>
            <a:off x="7772400" y="1371600"/>
            <a:ext cx="3246120" cy="54864"/>
          </a:xfrm>
          <a:prstGeom prst="rect">
            <a:avLst/>
          </a:prstGeom>
          <a:solidFill>
            <a:srgbClr val="19877D"/>
          </a:solidFill>
          <a:ln w="0">
            <a:solidFill>
              <a:srgbClr val="19877D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7772400" y="1673352"/>
            <a:ext cx="3246120" cy="429768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19877D"/>
                </a:solidFill>
                <a:latin typeface="Microsoft YaHei"/>
              </a:rPr>
              <a:t>机制结论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790688" y="2331720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9877D"/>
                </a:solidFill>
                <a:latin typeface="Microsoft YaHei"/>
              </a:rPr>
              <a:t>●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028432" y="2313432"/>
            <a:ext cx="2907792" cy="438912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>
                <a:solidFill>
                  <a:srgbClr val="161B22"/>
                </a:solidFill>
                <a:latin typeface="Microsoft YaHei"/>
              </a:rPr>
              <a:t>HAA-RAG 是经验检索基础；移除后整体成功率降至 25.0%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7790688" y="3081528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9877D"/>
                </a:solidFill>
                <a:latin typeface="Microsoft YaHei"/>
              </a:rPr>
              <a:t>●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028432" y="3063240"/>
            <a:ext cx="2907792" cy="438912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>
                <a:solidFill>
                  <a:srgbClr val="161B22"/>
                </a:solidFill>
                <a:latin typeface="Microsoft YaHei"/>
              </a:rPr>
              <a:t>Scene Graph 主要影响交互约束任务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790688" y="3831336"/>
            <a:ext cx="182880" cy="182880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19877D"/>
                </a:solidFill>
                <a:latin typeface="Microsoft YaHei"/>
              </a:rPr>
              <a:t>●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028432" y="3813048"/>
            <a:ext cx="2907792" cy="438912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>
                <a:solidFill>
                  <a:srgbClr val="161B22"/>
                </a:solidFill>
                <a:latin typeface="Microsoft YaHei"/>
              </a:rPr>
              <a:t>Self-Reflection / Recovery 显著影响失败恢复和长程稳定性</a:t>
            </a:r>
          </a:p>
        </p:txBody>
      </p:sp>
      <p:sp>
        <p:nvSpPr>
          <p:cNvPr id="103" name="Rect 103"/>
          <p:cNvSpPr/>
          <p:nvPr/>
        </p:nvSpPr>
        <p:spPr>
          <a:xfrm>
            <a:off x="576072" y="5001768"/>
            <a:ext cx="11045952" cy="841248"/>
          </a:xfrm>
          <a:prstGeom prst="rect">
            <a:avLst/>
          </a:prstGeom>
          <a:solidFill>
            <a:srgbClr val="E8F7F4"/>
          </a:solidFill>
          <a:ln w="5600">
            <a:solidFill>
              <a:srgbClr val="AADACF"/>
            </a:solidFill>
          </a:ln>
        </p:spPr>
      </p:sp>
      <p:sp>
        <p:nvSpPr>
          <p:cNvPr id="104" name="TextBox 104"/>
          <p:cNvSpPr txBox="1"/>
          <p:nvPr/>
        </p:nvSpPr>
        <p:spPr>
          <a:xfrm>
            <a:off x="850392" y="5285232"/>
            <a:ext cx="1005840" cy="283464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9877D"/>
                </a:solidFill>
                <a:latin typeface="Microsoft YaHei"/>
              </a:rPr>
              <a:t>使用方式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901952" y="5239512"/>
            <a:ext cx="9235440" cy="393192"/>
          </a:xfrm>
          <a:prstGeom prst="rect">
            <a:avLst/>
          </a:prstGeom>
          <a:noFill/>
        </p:spPr>
        <p:txBody>
          <a:bodyPr wrap="square" lIns="27432" rIns="27432" tIns="27432" bIns="27432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20" b="1">
                <a:solidFill>
                  <a:srgbClr val="161B22"/>
                </a:solidFill>
                <a:latin typeface="Microsoft YaHei"/>
              </a:rPr>
              <a:t>主线不主动展开具体数值；如被问到实验验证，用本页说明消融表和机制结论。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udan_campu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884881"/>
            <a:ext cx="3401568" cy="5088237"/>
          </a:xfrm>
          <a:prstGeom prst="rect">
            <a:avLst/>
          </a:prstGeom>
        </p:spPr>
      </p:pic>
      <p:pic>
        <p:nvPicPr>
          <p:cNvPr id="3" name="Picture 2" descr="fudan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449" y="155447"/>
            <a:ext cx="1271772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0" y="1508760"/>
            <a:ext cx="69037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161B22"/>
                </a:solidFill>
                <a:latin typeface="Microsoft YaHei"/>
              </a:rPr>
              <a:t>谢谢各位老师和同学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2304288"/>
            <a:ext cx="7178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F4B94"/>
                </a:solidFill>
                <a:latin typeface="Microsoft YaHei"/>
              </a:rPr>
              <a:t>敬请批评指正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2352" y="3209544"/>
            <a:ext cx="5010912" cy="420624"/>
          </a:xfrm>
          <a:prstGeom prst="rect">
            <a:avLst/>
          </a:prstGeom>
          <a:solidFill>
            <a:srgbClr val="1F4B94"/>
          </a:solidFill>
          <a:ln>
            <a:solidFill>
              <a:srgbClr val="1F4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8928" y="3264408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汇报人：陈涛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4059936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>2026年7月27日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453128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855464"/>
            <a:ext cx="6830568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6606C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>generated using python-pptx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