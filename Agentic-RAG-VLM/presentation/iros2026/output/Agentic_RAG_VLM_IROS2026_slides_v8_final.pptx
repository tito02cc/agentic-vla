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58c1a2b04b4820" /><Relationship Type="http://schemas.openxmlformats.org/officeDocument/2006/relationships/extended-properties" Target="/docProps/app.xml" Id="R978c59ba3d844855" /><Relationship Type="http://schemas.openxmlformats.org/officeDocument/2006/relationships/officeDocument" Target="/ppt/presentation.xml" Id="Recda3864e6844fbb" /></Relationships>
</file>

<file path=ppt/presentation.xml><?xml version="1.0" encoding="utf-8"?>
<p:presentation xmlns:p="http://schemas.openxmlformats.org/presentationml/2006/main">
  <p:sldMasterIdLst>
    <p:sldMasterId xmlns:r="http://schemas.openxmlformats.org/officeDocument/2006/relationships" id="2147483648" r:id="R1d116d567bbf4884"/>
  </p:sldMasterIdLst>
  <p:notesMasterIdLst>
    <p:notesMasterId xmlns:r="http://schemas.openxmlformats.org/officeDocument/2006/relationships" r:id="Rb98573ef4af7438c"/>
  </p:notesMasterIdLst>
  <p:sldIdLst>
    <p:sldId xmlns:r="http://schemas.openxmlformats.org/officeDocument/2006/relationships" id="256" r:id="Reb4c89d356674386"/>
    <p:sldId xmlns:r="http://schemas.openxmlformats.org/officeDocument/2006/relationships" id="257" r:id="Rba9a067468d84407"/>
    <p:sldId xmlns:r="http://schemas.openxmlformats.org/officeDocument/2006/relationships" id="258" r:id="R8a60168abef64bcf"/>
    <p:sldId xmlns:r="http://schemas.openxmlformats.org/officeDocument/2006/relationships" id="259" r:id="Rb62896e7022d4454"/>
    <p:sldId xmlns:r="http://schemas.openxmlformats.org/officeDocument/2006/relationships" id="260" r:id="R50cdcd9c95624205"/>
    <p:sldId xmlns:r="http://schemas.openxmlformats.org/officeDocument/2006/relationships" id="261" r:id="R1e563867d5154b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9f17cf10b647f5" /><Relationship Type="http://schemas.openxmlformats.org/officeDocument/2006/relationships/slideMaster" Target="/ppt/slideMasters/slideMaster1.xml" Id="R1d116d567bbf4884" /><Relationship Type="http://schemas.openxmlformats.org/officeDocument/2006/relationships/notesMaster" Target="/ppt/notesMasters/notesMaster1.xml" Id="Rb98573ef4af7438c" /><Relationship Type="http://schemas.openxmlformats.org/officeDocument/2006/relationships/presProps" Target="/ppt/presProps.xml" Id="R819e5545fade494a" /><Relationship Type="http://schemas.openxmlformats.org/officeDocument/2006/relationships/tableStyles" Target="/ppt/tableStyles.xml" Id="Rc22c987706c44cdb" /><Relationship Type="http://schemas.openxmlformats.org/officeDocument/2006/relationships/slide" Target="/ppt/slides/slide1.xml" Id="Reb4c89d356674386" /><Relationship Type="http://schemas.openxmlformats.org/officeDocument/2006/relationships/slide" Target="/ppt/slides/slide2.xml" Id="Rba9a067468d84407" /><Relationship Type="http://schemas.openxmlformats.org/officeDocument/2006/relationships/slide" Target="/ppt/slides/slide3.xml" Id="R8a60168abef64bcf" /><Relationship Type="http://schemas.openxmlformats.org/officeDocument/2006/relationships/slide" Target="/ppt/slides/slide4.xml" Id="Rb62896e7022d4454" /><Relationship Type="http://schemas.openxmlformats.org/officeDocument/2006/relationships/slide" Target="/ppt/slides/slide5.xml" Id="R50cdcd9c95624205" /><Relationship Type="http://schemas.openxmlformats.org/officeDocument/2006/relationships/slide" Target="/ppt/slides/slide6.xml" Id="R1e563867d5154b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a565c6cd7b48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01795316424299" /><Relationship Type="http://schemas.openxmlformats.org/officeDocument/2006/relationships/notesMaster" Target="/ppt/notesMasters/notesMaster1.xml" Id="Rc29c48e86c4d45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cfd2e3cc9c4825" /><Relationship Type="http://schemas.openxmlformats.org/officeDocument/2006/relationships/notesMaster" Target="/ppt/notesMasters/notesMaster1.xml" Id="R51ea42a3174b4c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b20cfd1f224daf" /><Relationship Type="http://schemas.openxmlformats.org/officeDocument/2006/relationships/notesMaster" Target="/ppt/notesMasters/notesMaster1.xml" Id="R85ec23ec3d464b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34abed80454096" /><Relationship Type="http://schemas.openxmlformats.org/officeDocument/2006/relationships/notesMaster" Target="/ppt/notesMasters/notesMaster1.xml" Id="Recba55fa7f7a42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3bc184a3da4dcc" /><Relationship Type="http://schemas.openxmlformats.org/officeDocument/2006/relationships/notesMaster" Target="/ppt/notesMasters/notesMaster1.xml" Id="R22588aa66ede41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f23efcfd7f4c3b" /><Relationship Type="http://schemas.openxmlformats.org/officeDocument/2006/relationships/notesMaster" Target="/ppt/notesMasters/notesMaster1.xml" Id="R2549a05d2a6e40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0–18 seconds (planned)</a:t>
            </a:r>
          </a:p>
          <a:p xmlns:a="http://schemas.openxmlformats.org/drawingml/2006/main">
            <a:r>
              <a:t/>
            </a:r>
          </a:p>
          <a:p xmlns:a="http://schemas.openxmlformats.org/drawingml/2006/main">
            <a:r>
              <a:t>Hello, I’m Tao Chen from Fudan University. Grasp planning needs experience that fits the object and feedback when actions fail. We present Agentic RAG-VLM, combining affordance-aware retrieval, scene constraints, and self-reflective planning.</a:t>
            </a:r>
          </a:p>
          <a:p xmlns:a="http://schemas.openxmlformats.org/drawingml/2006/main">
            <a:r>
              <a:t/>
            </a:r>
          </a:p>
          <a:p xmlns:a="http://schemas.openxmlformats.org/drawingml/2006/main">
            <a:r>
              <a:t>中文：大家好，我是复旦大学的陈涛。抓取规划需要适合当前物体的经验，也需要在动作失败后利用反馈。我们提出 Agentic RAG-VLM，结合可供性感知检索、场景约束与自反思规划。</a:t>
            </a:r>
          </a:p>
          <a:p xmlns:a="http://schemas.openxmlformats.org/drawingml/2006/main">
            <a:r>
              <a:t/>
            </a:r>
          </a:p>
          <a:p xmlns:a="http://schemas.openxmlformats.org/drawingml/2006/main">
            <a:r>
              <a:t>提示：看镜头开场，不朗读全部作者和长标题。</a:t>
            </a:r>
          </a:p>
          <a:p xmlns:a="http://schemas.openxmlformats.org/drawingml/2006/main">
            <a:r>
              <a:t/>
            </a:r>
          </a:p>
          <a:p xmlns:a="http://schemas.openxmlformats.org/drawingml/2006/main">
            <a:r>
              <a:t>Source: /home/admin1/ct/CARVE-VLA/paper/Agentic-RAG-VLM/main_final.tex.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18–42 seconds (planned)</a:t>
            </a:r>
          </a:p>
          <a:p xmlns:a="http://schemas.openxmlformats.org/drawingml/2006/main">
            <a:r>
              <a:t/>
            </a:r>
          </a:p>
          <a:p xmlns:a="http://schemas.openxmlformats.org/drawingml/2006/main">
            <a:r>
              <a:t>Similar-looking objects may require different grasps. HAA-RAG first matches object categories, then checks compatibility using affordance type, material, fragility, and graspable region. It combines this compatibility with visual similarity to rank candidates and retrieve the top three experiences. The figure illustrates how these stages select relevant grasp strategies.</a:t>
            </a:r>
          </a:p>
          <a:p xmlns:a="http://schemas.openxmlformats.org/drawingml/2006/main">
            <a:r>
              <a:t/>
            </a:r>
          </a:p>
          <a:p xmlns:a="http://schemas.openxmlformats.org/drawingml/2006/main">
            <a:r>
              <a:t>中文：外观相近的物体可能需要不同的抓法。HAA-RAG 首先匹配物体类别，再通过可供性类型、材质、脆弱性和可抓区域检查兼容性，最后结合视觉相似度重排候选，检索前三条经验。图中展示这三个阶段如何筛选相关抓取策略。</a:t>
            </a:r>
          </a:p>
          <a:p xmlns:a="http://schemas.openxmlformats.org/drawingml/2006/main">
            <a:r>
              <a:t/>
            </a:r>
          </a:p>
          <a:p xmlns:a="http://schemas.openxmlformats.org/drawingml/2006/main">
            <a:r>
              <a:t>提示：对应论文原图 fig.2.png。沿右图三个彩色筛选层级从上向下讲解，左侧文字用于概括。原图包含细节数字，不逐个朗读。</a:t>
            </a:r>
          </a:p>
          <a:p xmlns:a="http://schemas.openxmlformats.org/drawingml/2006/main">
            <a:r>
              <a:t/>
            </a:r>
          </a:p>
          <a:p xmlns:a="http://schemas.openxmlformats.org/drawingml/2006/main">
            <a:r>
              <a:t>Source: /home/admin1/ct/CARVE-VLA/paper/Agentic-RAG-VLM/main_final.tex.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42–75 seconds (planned)</a:t>
            </a:r>
          </a:p>
          <a:p xmlns:a="http://schemas.openxmlformats.org/drawingml/2006/main">
            <a:r>
              <a:t/>
            </a:r>
          </a:p>
          <a:p xmlns:a="http://schemas.openxmlformats.org/drawingml/2006/main">
            <a:r>
              <a:t>The full framework connects perception, planning, and execution. Retrieved experience guides grasp selection. Scene-graph reasoning adds constraints for collisions, container contents, support, and occlusion. Robot skills execute the plan, while the agent monitors outcomes. When an action fails, self-reflection selects parameter tuning, a different grasp method, or replanning within a retry budget. Successful grasps enter episodic memory for reuse in later tasks.</a:t>
            </a:r>
          </a:p>
          <a:p xmlns:a="http://schemas.openxmlformats.org/drawingml/2006/main">
            <a:r>
              <a:t/>
            </a:r>
          </a:p>
          <a:p xmlns:a="http://schemas.openxmlformats.org/drawingml/2006/main">
            <a:r>
              <a:t>中文：完整框架连接感知、规划与执行。检索经验指导抓法选择，场景图推理补充碰撞、容器内容物、支撑和遮挡约束。机器人技能执行计划，智能体监测结果。动作失败后，自反思模块在重试预算内选择调整参数、更换抓法或重新规划。成功抓取进入情景记忆，供后续任务复用。</a:t>
            </a:r>
          </a:p>
          <a:p xmlns:a="http://schemas.openxmlformats.org/drawingml/2006/main">
            <a:r>
              <a:t/>
            </a:r>
          </a:p>
          <a:p xmlns:a="http://schemas.openxmlformats.org/drawingml/2006/main">
            <a:r>
              <a:t>提示：对应论文原图 fig.1.png。先指左侧输入，再指中央检索与场景图模块，随后指右侧执行、失败诊断与三级重试，最后指下方记忆库。不逐项朗读全部小标签。原图中的 Qwen3-VL 是论文框架标注，P5 后续演示使用 Qwen3.5-4B 保存的规划收据，二者不混称同一次实验。此页介绍方法设计，不表示 P5 覆盖所有恢复层级。</a:t>
            </a:r>
          </a:p>
          <a:p xmlns:a="http://schemas.openxmlformats.org/drawingml/2006/main">
            <a:r>
              <a:t/>
            </a:r>
          </a:p>
          <a:p xmlns:a="http://schemas.openxmlformats.org/drawingml/2006/main">
            <a:r>
              <a:t>Source: /home/admin1/ct/CARVE-VLA/paper/Agentic-RAG-VLM/main_final.tex.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75–107 seconds (planned)</a:t>
            </a:r>
          </a:p>
          <a:p xmlns:a="http://schemas.openxmlformats.org/drawingml/2006/main">
            <a:r>
              <a:t/>
            </a:r>
          </a:p>
          <a:p xmlns:a="http://schemas.openxmlformats.org/drawingml/2006/main">
            <a:r>
              <a:t>The paper evaluates twelve tasks using an analytical grasp-quality model. Overall success is seventy-eight point three percent for the full system, twenty-five without HAA-RAG, and forty-six point seven without recovery. On interactive tasks, removing the scene graph reduces the reported rate from sixty-four point two to twenty-five percent. These are comparisons within this evaluation setting. The heuristic baseline remains stronger on single-grasp and long-horizon tasks.</a:t>
            </a:r>
          </a:p>
          <a:p xmlns:a="http://schemas.openxmlformats.org/drawingml/2006/main">
            <a:r>
              <a:t/>
            </a:r>
          </a:p>
          <a:p xmlns:a="http://schemas.openxmlformats.org/drawingml/2006/main">
            <a:r>
              <a:t>中文：论文用解析抓取质量模型评估十二项任务。总体成功率分别为：完整系统 78.3%，无 HAA-RAG 25.0%，无恢复机制 46.7%。交互任务中，去掉场景图后，报告成功率从 64.2% 降至 25.0%。这些是该评估设置下的比较；启发式在单抓和长程任务上仍更高。</a:t>
            </a:r>
          </a:p>
          <a:p xmlns:a="http://schemas.openxmlformats.org/drawingml/2006/main">
            <a:r>
              <a:t/>
            </a:r>
          </a:p>
          <a:p xmlns:a="http://schemas.openxmlformats.org/drawingml/2006/main">
            <a:r>
              <a:t>提示：先指左图 Full，再依次指右侧三个模块比较。Overall 与 Interactive 的分母不同，不能混称总体结果。保留质量模型及原始日志状态页脚，不声称新实验复现了旧表。</a:t>
            </a:r>
          </a:p>
          <a:p xmlns:a="http://schemas.openxmlformats.org/drawingml/2006/main">
            <a:r>
              <a:t/>
            </a:r>
          </a:p>
          <a:p xmlns:a="http://schemas.openxmlformats.org/drawingml/2006/main">
            <a:r>
              <a:t>Source: /home/admin1/ct/CARVE-VLA/paper/Agentic-RAG-VLM/main_final.tex.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107–152 seconds (planned)</a:t>
            </a:r>
          </a:p>
          <a:p xmlns:a="http://schemas.openxmlformats.org/drawingml/2006/main">
            <a:r>
              <a:t/>
            </a:r>
          </a:p>
          <a:p xmlns:a="http://schemas.openxmlformats.org/drawingml/2006/main">
            <a:r>
              <a:t>This VLABench simulation separates two uses of retrieval. Recipe knowledge determines what to pick: the model proposes broccoli, cheese, and fish, while the specified recipe contains only broccoli and cheese. HAA-RAG retrieves grasp cards for the selected ingredients, which connect to a top-approach robot skill. The execution reuses the stored model plan. Both ingredients are released onto the plate, followed by hand retraction and settling checks. This case demonstrates knowledge-guided planning and execution, rather than failure recovery.</a:t>
            </a:r>
          </a:p>
          <a:p xmlns:a="http://schemas.openxmlformats.org/drawingml/2006/main">
            <a:r>
              <a:t/>
            </a:r>
          </a:p>
          <a:p xmlns:a="http://schemas.openxmlformats.org/drawingml/2006/main">
            <a:r>
              <a:t>中文：这个 VLABench 案例区分检索的两种作用。菜谱知识决定拿什么：模型提出西兰花、芝士和鱼，而指定菜谱只包含西兰花与芝士。HAA-RAG 为选定食材检索抓取卡片，并对接从上方接近的机器人技能。本次执行复用保存的模型规划。两个食材释放到盘中后，机械手回撤，并检查稳定状态。案例展示知识引导的规划与执行，不展示失败恢复。</a:t>
            </a:r>
          </a:p>
          <a:p xmlns:a="http://schemas.openxmlformats.org/drawingml/2006/main">
            <a:r>
              <a:t/>
            </a:r>
          </a:p>
          <a:p xmlns:a="http://schemas.openxmlformats.org/drawingml/2006/main">
            <a:r>
              <a:t>提示：切到 P5 立即点击新录像并同时讲解。先解释菜谱决定目标，再解释 HAA-RAG 提供抓取卡片，最后指出真实释放与回撤。右侧为同次执行的日志摘要，不是实时模型字幕。菜谱来自预设知识，规划复用原始 Qwen3.5-4B 收据。本例展示备料规划与执行，不展示烹饪、失败恢复或抓法的对照优势。</a:t>
            </a:r>
          </a:p>
          <a:p xmlns:a="http://schemas.openxmlformats.org/drawingml/2006/main">
            <a:r>
              <a:t/>
            </a:r>
          </a:p>
          <a:p xmlns:a="http://schemas.openxmlformats.org/drawingml/2006/main">
            <a:r>
              <a:t>Source: /home/admin1/ct/CARVE-VLA/paper/Agentic-RAG-VLM/main_final.tex. Planning: /home/admin1/ct/CARVE-VLA/artifacts/vlabench/agentic_cook_dishes_20260901/seed_007/planner_receipt_v2.json. Execution: /home/admin1/ct/CARVE-VLA/artifacts/vlabench/presentation_cook_completion_20260915/seed007_v2/result.json. Embedded unmodified video: /home/admin1/ct/CARVE-VLA/artifacts/vlabench/presentation_cook_completion_20260915/seed007_v2/episode_success_True.mp4. Qwen3.5-4B planning receipt is reused by this execution run; no claim of a new model call at every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152–172 seconds (planned)</a:t>
            </a:r>
          </a:p>
          <a:p xmlns:a="http://schemas.openxmlformats.org/drawingml/2006/main">
            <a:r>
              <a:t/>
            </a:r>
          </a:p>
          <a:p xmlns:a="http://schemas.openxmlformats.org/drawingml/2006/main">
            <a:r>
              <a:t>Agentic RAG-VLM uses retrieved experience and scene constraints to guide task-level planning. Robot skills handle motion, while feedback supports plan revision. The recipe case illustrates this integration. Broader physical evaluation and real-robot transfer are our next steps. Thank you, and I welcome your questions.</a:t>
            </a:r>
          </a:p>
          <a:p xmlns:a="http://schemas.openxmlformats.org/drawingml/2006/main">
            <a:r>
              <a:t/>
            </a:r>
          </a:p>
          <a:p xmlns:a="http://schemas.openxmlformats.org/drawingml/2006/main">
            <a:r>
              <a:t>中文：Agentic RAG-VLM 利用检索经验与场景约束引导任务级规划。机器人技能负责运动执行，反馈支持计划调整。菜谱案例展示了这一系统集成。下一步是更广泛的物理验证与实机迁移。感谢聆听，欢迎提问。</a:t>
            </a:r>
          </a:p>
          <a:p xmlns:a="http://schemas.openxmlformats.org/drawingml/2006/main">
            <a:r>
              <a:t/>
            </a:r>
          </a:p>
          <a:p xmlns:a="http://schemas.openxmlformats.org/drawingml/2006/main">
            <a:r>
              <a:t>提示：看镜头收尾，不再重复数字或逐项解释框架。若整体超时可删去第三句，保留后续工作。</a:t>
            </a:r>
          </a:p>
          <a:p xmlns:a="http://schemas.openxmlformats.org/drawingml/2006/main">
            <a:r>
              <a:t/>
            </a:r>
          </a:p>
          <a:p xmlns:a="http://schemas.openxmlformats.org/drawingml/2006/main">
            <a:r>
              <a:t>Source: /home/admin1/ct/CARVE-VLA/paper/Agentic-RAG-VLM/main_final.tex.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7fc99d0cc043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e22767b6d24192" /><Relationship Type="http://schemas.openxmlformats.org/officeDocument/2006/relationships/slideLayout" Target="/ppt/slideLayouts/slideLayout1.xml" Id="R78077166621844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77166621844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8c63f9a5074418" /><Relationship Type="http://schemas.openxmlformats.org/officeDocument/2006/relationships/image" Target="/ppt/media/image.png" Id="R732854ab85bb4517" /><Relationship Type="http://schemas.openxmlformats.org/officeDocument/2006/relationships/notesSlide" Target="/ppt/notesSlides/notesSlide1.xml" Id="R2117907552e240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6a311332e34d47" /><Relationship Type="http://schemas.openxmlformats.org/officeDocument/2006/relationships/image" Target="/ppt/media/image2.png" Id="R44e5b6c148024b03" /><Relationship Type="http://schemas.openxmlformats.org/officeDocument/2006/relationships/notesSlide" Target="/ppt/notesSlides/notesSlide2.xml" Id="R2c0652cc0f5143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0be02ec7a64a53" /><Relationship Type="http://schemas.openxmlformats.org/officeDocument/2006/relationships/image" Target="/ppt/media/image3.png" Id="Rfb8f9f6379464bc3" /><Relationship Type="http://schemas.openxmlformats.org/officeDocument/2006/relationships/notesSlide" Target="/ppt/notesSlides/notesSlide3.xml" Id="Rf3c8ccb767f441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311f6bc30e4d3b" /><Relationship Type="http://schemas.openxmlformats.org/officeDocument/2006/relationships/chart" Target="/ppt/slides/charts/chart1.xml" Id="R8a4c6e1458a3479c" /><Relationship Type="http://schemas.openxmlformats.org/officeDocument/2006/relationships/notesSlide" Target="/ppt/notesSlides/notesSlide4.xml" Id="R1c7e331beb6b4cd0" /></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f3d3f9ab6814aad"/><Relationship Type="http://schemas.openxmlformats.org/officeDocument/2006/relationships/image" Target="/ppt/media/image4.png" Id="R0036fcd94c524cf9"/><Relationship Type="http://schemas.openxmlformats.org/officeDocument/2006/relationships/notesSlide" Target="/ppt/notesSlides/notesSlide5.xml" Id="Rc6e3c245177442ce"/><Relationship Id="rIdCookVideo" Type="http://schemas.openxmlformats.org/officeDocument/2006/relationships/video" Target="../media/cook_dishes_original.mp4"/><Relationship Id="rIdCookMedia" Type="http://schemas.microsoft.com/office/2007/relationships/media" Target="../media/cook_dishes_original.mp4"/></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c634369edd488b" /><Relationship Type="http://schemas.openxmlformats.org/officeDocument/2006/relationships/notesSlide" Target="/ppt/notesSlides/notesSlide6.xml" Id="R8e6370e47e974c6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Overall success (%)</c:v>
          </c:tx>
          <c:spPr>
            <a:solidFill xmlns:a="http://schemas.openxmlformats.org/drawingml/2006/main">
              <a:srgbClr val="073D8C"/>
            </a:solidFill>
          </c:spPr>
          <c:dPt>
            <c:idx val="0"/>
            <c:invertIfNegative val="0"/>
            <c:spPr>
              <a:solidFill xmlns:a="http://schemas.openxmlformats.org/drawingml/2006/main">
                <a:srgbClr val="9AAABF"/>
              </a:solidFill>
            </c:spPr>
          </c:dPt>
          <c:dPt>
            <c:idx val="1"/>
            <c:invertIfNegative val="0"/>
            <c:spPr>
              <a:solidFill xmlns:a="http://schemas.openxmlformats.org/drawingml/2006/main">
                <a:srgbClr val="9AAABF"/>
              </a:solidFill>
            </c:spPr>
          </c:dPt>
          <c:dPt>
            <c:idx val="2"/>
            <c:invertIfNegative val="0"/>
            <c:spPr>
              <a:solidFill xmlns:a="http://schemas.openxmlformats.org/drawingml/2006/main">
                <a:srgbClr val="9AAABF"/>
              </a:solidFill>
            </c:spPr>
          </c:dPt>
          <c:dPt>
            <c:idx val="3"/>
            <c:invertIfNegative val="0"/>
            <c:spPr>
              <a:solidFill xmlns:a="http://schemas.openxmlformats.org/drawingml/2006/main">
                <a:srgbClr val="9AAABF"/>
              </a:solidFill>
            </c:spPr>
          </c:dPt>
          <c:dPt>
            <c:idx val="4"/>
            <c:invertIfNegative val="0"/>
            <c:spPr>
              <a:solidFill xmlns:a="http://schemas.openxmlformats.org/drawingml/2006/main">
                <a:srgbClr val="18746F"/>
              </a:solidFill>
            </c:spPr>
          </c:dPt>
          <c:dPt>
            <c:idx val="5"/>
            <c:invertIfNegative val="0"/>
            <c:spPr>
              <a:solidFill xmlns:a="http://schemas.openxmlformats.org/drawingml/2006/main">
                <a:srgbClr val="9AAABF"/>
              </a:solidFill>
            </c:spPr>
          </c:dPt>
          <c:dPt>
            <c:idx val="6"/>
            <c:invertIfNegative val="0"/>
            <c:spPr>
              <a:solidFill xmlns:a="http://schemas.openxmlformats.org/drawingml/2006/main">
                <a:srgbClr val="073D8C"/>
              </a:solidFill>
            </c:spPr>
          </c:dPt>
          <c:cat>
            <c:strRef>
              <c:f>'Chart Data'!$A$2:$A$8</c:f>
              <c:strCache>
                <c:ptCount val="7"/>
                <c:pt idx="0">
                  <c:v>VLM-only</c:v>
                </c:pt>
                <c:pt idx="1">
                  <c:v>No HAA-RAG</c:v>
                </c:pt>
                <c:pt idx="2">
                  <c:v>No recovery</c:v>
                </c:pt>
                <c:pt idx="3">
                  <c:v>No scene graph</c:v>
                </c:pt>
                <c:pt idx="4">
                  <c:v>Heuristic</c:v>
                </c:pt>
                <c:pt idx="5">
                  <c:v>No memory</c:v>
                </c:pt>
                <c:pt idx="6">
                  <c:v>Full system</c:v>
                </c:pt>
              </c:strCache>
            </c:strRef>
          </c:cat>
          <c:val>
            <c:numRef>
              <c:f>'Chart Data'!$B$2:$B$8</c:f>
              <c:numCache>
                <c:formatCode>0.0</c:formatCode>
                <c:ptCount val="7"/>
                <c:pt idx="0">
                  <c:v>25</c:v>
                </c:pt>
                <c:pt idx="1">
                  <c:v>25</c:v>
                </c:pt>
                <c:pt idx="2">
                  <c:v>46.7</c:v>
                </c:pt>
                <c:pt idx="3">
                  <c:v>65.3</c:v>
                </c:pt>
                <c:pt idx="4">
                  <c:v>74.7</c:v>
                </c:pt>
                <c:pt idx="5">
                  <c:v>76.4</c:v>
                </c:pt>
                <c:pt idx="6">
                  <c:v>78.3</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72D4B"/>
                  </a:solidFill>
                  <a:latin typeface="Lato"/>
                  <a:ea typeface="Lato"/>
                  <a:cs typeface="Lato"/>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9E0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ato"/>
                <a:ea typeface="Lato"/>
                <a:cs typeface="Lato"/>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32854ab85bb4517"/>
          <a:stretch xmlns:a="http://schemas.openxmlformats.org/drawingml/2006/main"/>
        </p:blipFill>
        <p:spPr>
          <a:xfrm xmlns:a="http://schemas.openxmlformats.org/drawingml/2006/main">
            <a:off x="533400" y="402340"/>
            <a:ext cx="2667000" cy="852671"/>
          </a:xfrm>
          <a:prstGeom xmlns:a="http://schemas.openxmlformats.org/drawingml/2006/main" prst="rect">
            <a:avLst/>
          </a:prstGeom>
        </p:spPr>
      </p:pic>
      <p:sp>
        <p:nvSpPr>
          <p:cNvPr id="2" name="Agentic RAG-VLM">
            <a:extLst xmlns:a="http://schemas.openxmlformats.org/drawingml/2006/main">
              <a:ext uri="{FF2B5EF4-FFF2-40B4-BE49-F238E27FC236}">
                <a16:creationId xmlns:a16="http://schemas.microsoft.com/office/drawing/2014/main" id="{53BCAAA7-6DA8-4CB5-B4B5-E27F785E0C5C}"/>
              </a:ext>
            </a:extLst>
          </p:cNvPr>
          <p:cNvSpPr>
            <a:spLocks xmlns:a="http://schemas.openxmlformats.org/drawingml/2006/main" noGrp="1"/>
          </p:cNvSpPr>
          <p:nvPr/>
        </p:nvSpPr>
        <p:spPr>
          <a:xfrm xmlns:a="http://schemas.openxmlformats.org/drawingml/2006/main">
            <a:off x="533400" y="1819275"/>
            <a:ext cx="1114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00" b="1">
                <a:solidFill>
                  <a:srgbClr val="073D8C"/>
                </a:solidFill>
                <a:latin typeface="Lato"/>
                <a:ea typeface="Lato"/>
                <a:cs typeface="Lato"/>
              </a:defRPr>
            </a:pPr>
            <a:r>
              <a:rPr sz="5100" b="1">
                <a:solidFill>
                  <a:srgbClr val="073D8C"/>
                </a:solidFill>
                <a:latin typeface="Lato"/>
                <a:ea typeface="Lato"/>
                <a:cs typeface="Lato"/>
              </a:rPr>
              <a:t>Agentic RAG-VLM</a:t>
            </a:r>
          </a:p>
        </p:txBody>
      </p:sp>
      <p:sp>
        <p:nvSpPr>
          <p:cNvPr id="3" name="Affordance-Aware Retrieval-Augmented Generation&#10;with Self-Reflect">
            <a:extLst xmlns:a="http://schemas.openxmlformats.org/drawingml/2006/main">
              <a:ext uri="{FF2B5EF4-FFF2-40B4-BE49-F238E27FC236}">
                <a16:creationId xmlns:a16="http://schemas.microsoft.com/office/drawing/2014/main" id="{793824D6-AB9B-4196-A705-707266047B6C}"/>
              </a:ext>
            </a:extLst>
          </p:cNvPr>
          <p:cNvSpPr>
            <a:spLocks xmlns:a="http://schemas.openxmlformats.org/drawingml/2006/main" noGrp="1"/>
          </p:cNvSpPr>
          <p:nvPr/>
        </p:nvSpPr>
        <p:spPr>
          <a:xfrm xmlns:a="http://schemas.openxmlformats.org/drawingml/2006/main">
            <a:off x="561975" y="28479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172D4B"/>
                </a:solidFill>
                <a:latin typeface="Lato"/>
                <a:ea typeface="Lato"/>
                <a:cs typeface="Lato"/>
              </a:defRPr>
            </a:pPr>
            <a:r>
              <a:rPr sz="2700" b="0">
                <a:solidFill>
                  <a:srgbClr val="172D4B"/>
                </a:solidFill>
                <a:latin typeface="Lato"/>
                <a:ea typeface="Lato"/>
                <a:cs typeface="Lato"/>
              </a:rPr>
              <a:t>Affordance-Aware Retrieval-Augmented Generation</a:t>
            </a:r>
          </a:p>
          <a:p xmlns:a="http://schemas.openxmlformats.org/drawingml/2006/main">
            <a:pPr>
              <a:defRPr sz="2700" b="0">
                <a:solidFill>
                  <a:srgbClr val="172D4B"/>
                </a:solidFill>
                <a:latin typeface="Lato"/>
                <a:ea typeface="Lato"/>
                <a:cs typeface="Lato"/>
              </a:defRPr>
            </a:pPr>
            <a:r>
              <a:rPr sz="2700" b="0">
                <a:solidFill>
                  <a:srgbClr val="172D4B"/>
                </a:solidFill>
                <a:latin typeface="Lato"/>
                <a:ea typeface="Lato"/>
                <a:cs typeface="Lato"/>
              </a:rPr>
              <a:t>with Self-Reflective Planning for Robotic Grasping</a:t>
            </a:r>
          </a:p>
        </p:txBody>
      </p:sp>
      <p:sp>
        <p:nvSpPr>
          <p:cNvPr id="4" name="Tao Chen¹, Lizheng Liu¹, Jiaxu Wang¹, Ziyue Jiang¹,&#10;Ruiqi Tian², ">
            <a:extLst xmlns:a="http://schemas.openxmlformats.org/drawingml/2006/main">
              <a:ext uri="{FF2B5EF4-FFF2-40B4-BE49-F238E27FC236}">
                <a16:creationId xmlns:a16="http://schemas.microsoft.com/office/drawing/2014/main" id="{693C3002-409C-4F5D-861A-6AA3F1E87C33}"/>
              </a:ext>
            </a:extLst>
          </p:cNvPr>
          <p:cNvSpPr>
            <a:spLocks xmlns:a="http://schemas.openxmlformats.org/drawingml/2006/main" noGrp="1"/>
          </p:cNvSpPr>
          <p:nvPr/>
        </p:nvSpPr>
        <p:spPr>
          <a:xfrm xmlns:a="http://schemas.openxmlformats.org/drawingml/2006/main">
            <a:off x="561975" y="448627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D4B"/>
                </a:solidFill>
                <a:latin typeface="Lato"/>
                <a:ea typeface="Lato"/>
                <a:cs typeface="Lato"/>
              </a:defRPr>
            </a:pPr>
            <a:r>
              <a:rPr sz="2025" b="0">
                <a:solidFill>
                  <a:srgbClr val="172D4B"/>
                </a:solidFill>
                <a:latin typeface="Lato"/>
                <a:ea typeface="Lato"/>
                <a:cs typeface="Lato"/>
              </a:rPr>
              <a:t>Tao Chen¹, Lizheng Liu¹, Jiaxu Wang¹, Ziyue Jiang¹,</a:t>
            </a:r>
          </a:p>
          <a:p xmlns:a="http://schemas.openxmlformats.org/drawingml/2006/main">
            <a:pPr>
              <a:defRPr sz="2025" b="0">
                <a:solidFill>
                  <a:srgbClr val="172D4B"/>
                </a:solidFill>
                <a:latin typeface="Lato"/>
                <a:ea typeface="Lato"/>
                <a:cs typeface="Lato"/>
              </a:defRPr>
            </a:pPr>
            <a:r>
              <a:rPr sz="2025" b="0">
                <a:solidFill>
                  <a:srgbClr val="172D4B"/>
                </a:solidFill>
                <a:latin typeface="Lato"/>
                <a:ea typeface="Lato"/>
                <a:cs typeface="Lato"/>
              </a:rPr>
              <a:t>Ruiqi Tian², JiGuang Huo¹, Zhongxue Gan¹</a:t>
            </a:r>
          </a:p>
        </p:txBody>
      </p:sp>
      <p:sp>
        <p:nvSpPr>
          <p:cNvPr id="5" name="¹ Fudan University     ² Kean University">
            <a:extLst xmlns:a="http://schemas.openxmlformats.org/drawingml/2006/main">
              <a:ext uri="{FF2B5EF4-FFF2-40B4-BE49-F238E27FC236}">
                <a16:creationId xmlns:a16="http://schemas.microsoft.com/office/drawing/2014/main" id="{CAE22427-65D9-402B-8CBF-11B5B23A150E}"/>
              </a:ext>
            </a:extLst>
          </p:cNvPr>
          <p:cNvSpPr>
            <a:spLocks xmlns:a="http://schemas.openxmlformats.org/drawingml/2006/main" noGrp="1"/>
          </p:cNvSpPr>
          <p:nvPr/>
        </p:nvSpPr>
        <p:spPr>
          <a:xfrm xmlns:a="http://schemas.openxmlformats.org/drawingml/2006/main">
            <a:off x="561975" y="53149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36174"/>
                </a:solidFill>
                <a:latin typeface="Lato"/>
                <a:ea typeface="Lato"/>
                <a:cs typeface="Lato"/>
              </a:defRPr>
            </a:pPr>
            <a:r>
              <a:rPr sz="1800" b="0">
                <a:solidFill>
                  <a:srgbClr val="536174"/>
                </a:solidFill>
                <a:latin typeface="Lato"/>
                <a:ea typeface="Lato"/>
                <a:cs typeface="Lato"/>
              </a:rPr>
              <a:t>¹ Fudan University     ² Kean University</a:t>
            </a:r>
          </a:p>
        </p:txBody>
      </p:sp>
      <p:sp>
        <p:nvSpPr>
          <p:cNvPr id="6" name="">
            <a:extLst xmlns:a="http://schemas.openxmlformats.org/drawingml/2006/main">
              <a:ext uri="{FF2B5EF4-FFF2-40B4-BE49-F238E27FC236}">
                <a16:creationId xmlns:a16="http://schemas.microsoft.com/office/drawing/2014/main" id="{E4F763D5-1427-48BA-B328-E5EF4AEFBBB6}"/>
              </a:ext>
            </a:extLst>
          </p:cNvPr>
          <p:cNvSpPr>
            <a:spLocks xmlns:a="http://schemas.openxmlformats.org/drawingml/2006/main" noGrp="1"/>
          </p:cNvSpPr>
          <p:nvPr/>
        </p:nvSpPr>
        <p:spPr>
          <a:xfrm xmlns:a="http://schemas.openxmlformats.org/drawingml/2006/main">
            <a:off x="533400" y="6143625"/>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7" name="IROS 2026  /  Lightning Talk  /  Paper 1772">
            <a:extLst xmlns:a="http://schemas.openxmlformats.org/drawingml/2006/main">
              <a:ext uri="{FF2B5EF4-FFF2-40B4-BE49-F238E27FC236}">
                <a16:creationId xmlns:a16="http://schemas.microsoft.com/office/drawing/2014/main" id="{232A1479-9BAD-44F9-AC3D-740D50364B92}"/>
              </a:ext>
            </a:extLst>
          </p:cNvPr>
          <p:cNvSpPr>
            <a:spLocks xmlns:a="http://schemas.openxmlformats.org/drawingml/2006/main" noGrp="1"/>
          </p:cNvSpPr>
          <p:nvPr/>
        </p:nvSpPr>
        <p:spPr>
          <a:xfrm xmlns:a="http://schemas.openxmlformats.org/drawingml/2006/main">
            <a:off x="561975" y="63531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073D8C"/>
                </a:solidFill>
                <a:latin typeface="Lato"/>
                <a:ea typeface="Lato"/>
                <a:cs typeface="Lato"/>
              </a:defRPr>
            </a:pPr>
            <a:r>
              <a:rPr sz="1650" b="0">
                <a:solidFill>
                  <a:srgbClr val="073D8C"/>
                </a:solidFill>
                <a:latin typeface="Lato"/>
                <a:ea typeface="Lato"/>
                <a:cs typeface="Lato"/>
              </a:rPr>
              <a:t>IROS 2026  /  Lightning Talk  /  Paper 1772</a:t>
            </a:r>
          </a:p>
        </p:txBody>
      </p:sp>
    </p:spTree>
    <p:extLst>
      <p:ext uri="{BB962C8B-B14F-4D97-AF65-F5344CB8AC3E}">
        <p14:creationId xmlns:p14="http://schemas.microsoft.com/office/powerpoint/2010/main" val="5586970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AA-RAG: affordance-aware experience retrieval">
            <a:extLst xmlns:a="http://schemas.openxmlformats.org/drawingml/2006/main">
              <a:ext uri="{FF2B5EF4-FFF2-40B4-BE49-F238E27FC236}">
                <a16:creationId xmlns:a16="http://schemas.microsoft.com/office/drawing/2014/main" id="{5834E9E4-F92A-414E-82F0-1C11C1B58028}"/>
              </a:ext>
            </a:extLst>
          </p:cNvPr>
          <p:cNvSpPr>
            <a:spLocks xmlns:a="http://schemas.openxmlformats.org/drawingml/2006/main" noGrp="1"/>
          </p:cNvSpPr>
          <p:nvPr/>
        </p:nvSpPr>
        <p:spPr>
          <a:xfrm xmlns:a="http://schemas.openxmlformats.org/drawingml/2006/main">
            <a:off x="533400" y="3810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72D4B"/>
                </a:solidFill>
                <a:latin typeface="Lato"/>
                <a:ea typeface="Lato"/>
                <a:cs typeface="Lato"/>
              </a:defRPr>
            </a:pPr>
            <a:r>
              <a:rPr sz="3000" b="1">
                <a:solidFill>
                  <a:srgbClr val="172D4B"/>
                </a:solidFill>
                <a:latin typeface="Lato"/>
                <a:ea typeface="Lato"/>
                <a:cs typeface="Lato"/>
              </a:rPr>
              <a:t>HAA-RAG: affordance-aware experience retrieval</a:t>
            </a:r>
          </a:p>
        </p:txBody>
      </p:sp>
      <p:sp>
        <p:nvSpPr>
          <p:cNvPr id="2" name="">
            <a:extLst xmlns:a="http://schemas.openxmlformats.org/drawingml/2006/main">
              <a:ext uri="{FF2B5EF4-FFF2-40B4-BE49-F238E27FC236}">
                <a16:creationId xmlns:a16="http://schemas.microsoft.com/office/drawing/2014/main" id="{AC94E670-367B-4926-9AAA-859FD179F2D5}"/>
              </a:ext>
            </a:extLst>
          </p:cNvPr>
          <p:cNvSpPr>
            <a:spLocks xmlns:a="http://schemas.openxmlformats.org/drawingml/2006/main" noGrp="1"/>
          </p:cNvSpPr>
          <p:nvPr/>
        </p:nvSpPr>
        <p:spPr>
          <a:xfrm xmlns:a="http://schemas.openxmlformats.org/drawingml/2006/main">
            <a:off x="533400" y="1114425"/>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3" name="IROS 2026  /  Paper 1772">
            <a:extLst xmlns:a="http://schemas.openxmlformats.org/drawingml/2006/main">
              <a:ext uri="{FF2B5EF4-FFF2-40B4-BE49-F238E27FC236}">
                <a16:creationId xmlns:a16="http://schemas.microsoft.com/office/drawing/2014/main" id="{2B3363A1-576E-4BC2-AB72-BEA8FF617BA6}"/>
              </a:ext>
            </a:extLst>
          </p:cNvPr>
          <p:cNvSpPr>
            <a:spLocks xmlns:a="http://schemas.openxmlformats.org/drawingml/2006/main" noGrp="1"/>
          </p:cNvSpPr>
          <p:nvPr/>
        </p:nvSpPr>
        <p:spPr>
          <a:xfrm xmlns:a="http://schemas.openxmlformats.org/drawingml/2006/main">
            <a:off x="533400" y="65055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36174"/>
                </a:solidFill>
                <a:latin typeface="Lato"/>
                <a:ea typeface="Lato"/>
                <a:cs typeface="Lato"/>
              </a:defRPr>
            </a:pPr>
            <a:r>
              <a:rPr sz="1275" b="0">
                <a:solidFill>
                  <a:srgbClr val="536174"/>
                </a:solidFill>
                <a:latin typeface="Lato"/>
                <a:ea typeface="Lato"/>
                <a:cs typeface="Lato"/>
              </a:rPr>
              <a:t>IROS 2026  /  Paper 1772</a:t>
            </a:r>
          </a:p>
        </p:txBody>
      </p:sp>
      <p:sp>
        <p:nvSpPr>
          <p:cNvPr id="4" name="02">
            <a:extLst xmlns:a="http://schemas.openxmlformats.org/drawingml/2006/main">
              <a:ext uri="{FF2B5EF4-FFF2-40B4-BE49-F238E27FC236}">
                <a16:creationId xmlns:a16="http://schemas.microsoft.com/office/drawing/2014/main" id="{9146B622-470D-469A-919E-F1C7106AC10F}"/>
              </a:ext>
            </a:extLst>
          </p:cNvPr>
          <p:cNvSpPr>
            <a:spLocks xmlns:a="http://schemas.openxmlformats.org/drawingml/2006/main" noGrp="1"/>
          </p:cNvSpPr>
          <p:nvPr/>
        </p:nvSpPr>
        <p:spPr>
          <a:xfrm xmlns:a="http://schemas.openxmlformats.org/drawingml/2006/main">
            <a:off x="11334750" y="64865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02</a:t>
            </a:r>
          </a:p>
        </p:txBody>
      </p:sp>
      <p:sp>
        <p:nvSpPr>
          <p:cNvPr id="5" name="1  Category matching">
            <a:extLst xmlns:a="http://schemas.openxmlformats.org/drawingml/2006/main">
              <a:ext uri="{FF2B5EF4-FFF2-40B4-BE49-F238E27FC236}">
                <a16:creationId xmlns:a16="http://schemas.microsoft.com/office/drawing/2014/main" id="{A4687268-5632-4414-80C4-A167CE7F9F92}"/>
              </a:ext>
            </a:extLst>
          </p:cNvPr>
          <p:cNvSpPr>
            <a:spLocks xmlns:a="http://schemas.openxmlformats.org/drawingml/2006/main" noGrp="1"/>
          </p:cNvSpPr>
          <p:nvPr/>
        </p:nvSpPr>
        <p:spPr>
          <a:xfrm xmlns:a="http://schemas.openxmlformats.org/drawingml/2006/main">
            <a:off x="533400" y="16573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3D8C"/>
                </a:solidFill>
                <a:latin typeface="Lato"/>
                <a:ea typeface="Lato"/>
                <a:cs typeface="Lato"/>
              </a:defRPr>
            </a:pPr>
            <a:r>
              <a:rPr sz="2175" b="1">
                <a:solidFill>
                  <a:srgbClr val="073D8C"/>
                </a:solidFill>
                <a:latin typeface="Lato"/>
                <a:ea typeface="Lato"/>
                <a:cs typeface="Lato"/>
              </a:rPr>
              <a:t>1  Category matching</a:t>
            </a:r>
          </a:p>
        </p:txBody>
      </p:sp>
      <p:sp>
        <p:nvSpPr>
          <p:cNvPr id="6" name="Select experience from the same&#10;or a related object category.">
            <a:extLst xmlns:a="http://schemas.openxmlformats.org/drawingml/2006/main">
              <a:ext uri="{FF2B5EF4-FFF2-40B4-BE49-F238E27FC236}">
                <a16:creationId xmlns:a16="http://schemas.microsoft.com/office/drawing/2014/main" id="{4B0AA7BC-8BD2-41EC-8A67-9AB89C228E4E}"/>
              </a:ext>
            </a:extLst>
          </p:cNvPr>
          <p:cNvSpPr>
            <a:spLocks xmlns:a="http://schemas.openxmlformats.org/drawingml/2006/main" noGrp="1"/>
          </p:cNvSpPr>
          <p:nvPr/>
        </p:nvSpPr>
        <p:spPr>
          <a:xfrm xmlns:a="http://schemas.openxmlformats.org/drawingml/2006/main">
            <a:off x="533400" y="215265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D4B"/>
                </a:solidFill>
                <a:latin typeface="Lato"/>
                <a:ea typeface="Lato"/>
                <a:cs typeface="Lato"/>
              </a:defRPr>
            </a:pPr>
            <a:r>
              <a:rPr sz="1950" b="0">
                <a:solidFill>
                  <a:srgbClr val="172D4B"/>
                </a:solidFill>
                <a:latin typeface="Lato"/>
                <a:ea typeface="Lato"/>
                <a:cs typeface="Lato"/>
              </a:rPr>
              <a:t>Select experience from the same</a:t>
            </a:r>
          </a:p>
          <a:p xmlns:a="http://schemas.openxmlformats.org/drawingml/2006/main">
            <a:pPr>
              <a:defRPr sz="1950" b="0">
                <a:solidFill>
                  <a:srgbClr val="172D4B"/>
                </a:solidFill>
                <a:latin typeface="Lato"/>
                <a:ea typeface="Lato"/>
                <a:cs typeface="Lato"/>
              </a:defRPr>
            </a:pPr>
            <a:r>
              <a:rPr sz="1950" b="0">
                <a:solidFill>
                  <a:srgbClr val="172D4B"/>
                </a:solidFill>
                <a:latin typeface="Lato"/>
                <a:ea typeface="Lato"/>
                <a:cs typeface="Lato"/>
              </a:rPr>
              <a:t>or a related object category.</a:t>
            </a:r>
          </a:p>
        </p:txBody>
      </p:sp>
      <p:sp>
        <p:nvSpPr>
          <p:cNvPr id="7" name="2  Affordance compatibility">
            <a:extLst xmlns:a="http://schemas.openxmlformats.org/drawingml/2006/main">
              <a:ext uri="{FF2B5EF4-FFF2-40B4-BE49-F238E27FC236}">
                <a16:creationId xmlns:a16="http://schemas.microsoft.com/office/drawing/2014/main" id="{D3137F20-7F73-4E31-A802-F383BB95E174}"/>
              </a:ext>
            </a:extLst>
          </p:cNvPr>
          <p:cNvSpPr>
            <a:spLocks xmlns:a="http://schemas.openxmlformats.org/drawingml/2006/main" noGrp="1"/>
          </p:cNvSpPr>
          <p:nvPr/>
        </p:nvSpPr>
        <p:spPr>
          <a:xfrm xmlns:a="http://schemas.openxmlformats.org/drawingml/2006/main">
            <a:off x="533400" y="3095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3D8C"/>
                </a:solidFill>
                <a:latin typeface="Lato"/>
                <a:ea typeface="Lato"/>
                <a:cs typeface="Lato"/>
              </a:defRPr>
            </a:pPr>
            <a:r>
              <a:rPr sz="2175" b="1">
                <a:solidFill>
                  <a:srgbClr val="073D8C"/>
                </a:solidFill>
                <a:latin typeface="Lato"/>
                <a:ea typeface="Lato"/>
                <a:cs typeface="Lato"/>
              </a:rPr>
              <a:t>2  Affordance compatibility</a:t>
            </a:r>
          </a:p>
        </p:txBody>
      </p:sp>
      <p:sp>
        <p:nvSpPr>
          <p:cNvPr id="8" name="Compare type, material, fragility&#10;and graspable region.">
            <a:extLst xmlns:a="http://schemas.openxmlformats.org/drawingml/2006/main">
              <a:ext uri="{FF2B5EF4-FFF2-40B4-BE49-F238E27FC236}">
                <a16:creationId xmlns:a16="http://schemas.microsoft.com/office/drawing/2014/main" id="{56425A44-D4C8-4BB2-8D6D-A484D9E71687}"/>
              </a:ext>
            </a:extLst>
          </p:cNvPr>
          <p:cNvSpPr>
            <a:spLocks xmlns:a="http://schemas.openxmlformats.org/drawingml/2006/main" noGrp="1"/>
          </p:cNvSpPr>
          <p:nvPr/>
        </p:nvSpPr>
        <p:spPr>
          <a:xfrm xmlns:a="http://schemas.openxmlformats.org/drawingml/2006/main">
            <a:off x="533400" y="3590925"/>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D4B"/>
                </a:solidFill>
                <a:latin typeface="Lato"/>
                <a:ea typeface="Lato"/>
                <a:cs typeface="Lato"/>
              </a:defRPr>
            </a:pPr>
            <a:r>
              <a:rPr sz="1950" b="0">
                <a:solidFill>
                  <a:srgbClr val="172D4B"/>
                </a:solidFill>
                <a:latin typeface="Lato"/>
                <a:ea typeface="Lato"/>
                <a:cs typeface="Lato"/>
              </a:rPr>
              <a:t>Compare type, material, fragility</a:t>
            </a:r>
          </a:p>
          <a:p xmlns:a="http://schemas.openxmlformats.org/drawingml/2006/main">
            <a:pPr>
              <a:defRPr sz="1950" b="0">
                <a:solidFill>
                  <a:srgbClr val="172D4B"/>
                </a:solidFill>
                <a:latin typeface="Lato"/>
                <a:ea typeface="Lato"/>
                <a:cs typeface="Lato"/>
              </a:defRPr>
            </a:pPr>
            <a:r>
              <a:rPr sz="1950" b="0">
                <a:solidFill>
                  <a:srgbClr val="172D4B"/>
                </a:solidFill>
                <a:latin typeface="Lato"/>
                <a:ea typeface="Lato"/>
                <a:cs typeface="Lato"/>
              </a:rPr>
              <a:t>and graspable region.</a:t>
            </a:r>
          </a:p>
        </p:txBody>
      </p:sp>
      <p:sp>
        <p:nvSpPr>
          <p:cNvPr id="9" name="3  Visual re-ranking">
            <a:extLst xmlns:a="http://schemas.openxmlformats.org/drawingml/2006/main">
              <a:ext uri="{FF2B5EF4-FFF2-40B4-BE49-F238E27FC236}">
                <a16:creationId xmlns:a16="http://schemas.microsoft.com/office/drawing/2014/main" id="{CB1C4BC8-8174-467C-A4D4-F6BC0C88EA8B}"/>
              </a:ext>
            </a:extLst>
          </p:cNvPr>
          <p:cNvSpPr>
            <a:spLocks xmlns:a="http://schemas.openxmlformats.org/drawingml/2006/main" noGrp="1"/>
          </p:cNvSpPr>
          <p:nvPr/>
        </p:nvSpPr>
        <p:spPr>
          <a:xfrm xmlns:a="http://schemas.openxmlformats.org/drawingml/2006/main">
            <a:off x="533400" y="45339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73D8C"/>
                </a:solidFill>
                <a:latin typeface="Lato"/>
                <a:ea typeface="Lato"/>
                <a:cs typeface="Lato"/>
              </a:defRPr>
            </a:pPr>
            <a:r>
              <a:rPr sz="2175" b="1">
                <a:solidFill>
                  <a:srgbClr val="073D8C"/>
                </a:solidFill>
                <a:latin typeface="Lato"/>
                <a:ea typeface="Lato"/>
                <a:cs typeface="Lato"/>
              </a:rPr>
              <a:t>3  Visual re-ranking</a:t>
            </a:r>
          </a:p>
        </p:txBody>
      </p:sp>
      <p:sp>
        <p:nvSpPr>
          <p:cNvPr id="10" name="Combine compatibility and visual&#10;similarity to return the top 3.">
            <a:extLst xmlns:a="http://schemas.openxmlformats.org/drawingml/2006/main">
              <a:ext uri="{FF2B5EF4-FFF2-40B4-BE49-F238E27FC236}">
                <a16:creationId xmlns:a16="http://schemas.microsoft.com/office/drawing/2014/main" id="{37D908FE-CCAF-48FD-9F74-E82FE7EAABFE}"/>
              </a:ext>
            </a:extLst>
          </p:cNvPr>
          <p:cNvSpPr>
            <a:spLocks xmlns:a="http://schemas.openxmlformats.org/drawingml/2006/main" noGrp="1"/>
          </p:cNvSpPr>
          <p:nvPr/>
        </p:nvSpPr>
        <p:spPr>
          <a:xfrm xmlns:a="http://schemas.openxmlformats.org/drawingml/2006/main">
            <a:off x="533400" y="50292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D4B"/>
                </a:solidFill>
                <a:latin typeface="Lato"/>
                <a:ea typeface="Lato"/>
                <a:cs typeface="Lato"/>
              </a:defRPr>
            </a:pPr>
            <a:r>
              <a:rPr sz="1950" b="0">
                <a:solidFill>
                  <a:srgbClr val="172D4B"/>
                </a:solidFill>
                <a:latin typeface="Lato"/>
                <a:ea typeface="Lato"/>
                <a:cs typeface="Lato"/>
              </a:rPr>
              <a:t>Combine compatibility and visual</a:t>
            </a:r>
          </a:p>
          <a:p xmlns:a="http://schemas.openxmlformats.org/drawingml/2006/main">
            <a:pPr>
              <a:defRPr sz="1950" b="0">
                <a:solidFill>
                  <a:srgbClr val="172D4B"/>
                </a:solidFill>
                <a:latin typeface="Lato"/>
                <a:ea typeface="Lato"/>
                <a:cs typeface="Lato"/>
              </a:defRPr>
            </a:pPr>
            <a:r>
              <a:rPr sz="1950" b="0">
                <a:solidFill>
                  <a:srgbClr val="172D4B"/>
                </a:solidFill>
                <a:latin typeface="Lato"/>
                <a:ea typeface="Lato"/>
                <a:cs typeface="Lato"/>
              </a:rPr>
              <a:t>similarity to return the top 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4e5b6c148024b03"/>
          <a:stretch xmlns:a="http://schemas.openxmlformats.org/drawingml/2006/main"/>
        </p:blipFill>
        <p:spPr>
          <a:xfrm xmlns:a="http://schemas.openxmlformats.org/drawingml/2006/main">
            <a:off x="5486400" y="1409630"/>
            <a:ext cx="6172200" cy="4772164"/>
          </a:xfrm>
          <a:prstGeom xmlns:a="http://schemas.openxmlformats.org/drawingml/2006/main" prst="rect">
            <a:avLst/>
          </a:prstGeom>
        </p:spPr>
      </p:pic>
    </p:spTree>
    <p:extLst>
      <p:ext uri="{BB962C8B-B14F-4D97-AF65-F5344CB8AC3E}">
        <p14:creationId xmlns:p14="http://schemas.microsoft.com/office/powerpoint/2010/main" val="434284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ic RAG-VLM framework">
            <a:extLst xmlns:a="http://schemas.openxmlformats.org/drawingml/2006/main">
              <a:ext uri="{FF2B5EF4-FFF2-40B4-BE49-F238E27FC236}">
                <a16:creationId xmlns:a16="http://schemas.microsoft.com/office/drawing/2014/main" id="{E5598DCB-A0C1-489F-AC43-34015D3E448F}"/>
              </a:ext>
            </a:extLst>
          </p:cNvPr>
          <p:cNvSpPr>
            <a:spLocks xmlns:a="http://schemas.openxmlformats.org/drawingml/2006/main" noGrp="1"/>
          </p:cNvSpPr>
          <p:nvPr/>
        </p:nvSpPr>
        <p:spPr>
          <a:xfrm xmlns:a="http://schemas.openxmlformats.org/drawingml/2006/main">
            <a:off x="533400" y="3810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72D4B"/>
                </a:solidFill>
                <a:latin typeface="Lato"/>
                <a:ea typeface="Lato"/>
                <a:cs typeface="Lato"/>
              </a:defRPr>
            </a:pPr>
            <a:r>
              <a:rPr sz="3000" b="1">
                <a:solidFill>
                  <a:srgbClr val="172D4B"/>
                </a:solidFill>
                <a:latin typeface="Lato"/>
                <a:ea typeface="Lato"/>
                <a:cs typeface="Lato"/>
              </a:rPr>
              <a:t>Agentic RAG-VLM framework</a:t>
            </a:r>
          </a:p>
        </p:txBody>
      </p:sp>
      <p:sp>
        <p:nvSpPr>
          <p:cNvPr id="2" name="">
            <a:extLst xmlns:a="http://schemas.openxmlformats.org/drawingml/2006/main">
              <a:ext uri="{FF2B5EF4-FFF2-40B4-BE49-F238E27FC236}">
                <a16:creationId xmlns:a16="http://schemas.microsoft.com/office/drawing/2014/main" id="{8A052446-03EC-4F79-80FE-7FF4DC3C2714}"/>
              </a:ext>
            </a:extLst>
          </p:cNvPr>
          <p:cNvSpPr>
            <a:spLocks xmlns:a="http://schemas.openxmlformats.org/drawingml/2006/main" noGrp="1"/>
          </p:cNvSpPr>
          <p:nvPr/>
        </p:nvSpPr>
        <p:spPr>
          <a:xfrm xmlns:a="http://schemas.openxmlformats.org/drawingml/2006/main">
            <a:off x="533400" y="1114425"/>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3" name="IROS 2026  /  Paper 1772">
            <a:extLst xmlns:a="http://schemas.openxmlformats.org/drawingml/2006/main">
              <a:ext uri="{FF2B5EF4-FFF2-40B4-BE49-F238E27FC236}">
                <a16:creationId xmlns:a16="http://schemas.microsoft.com/office/drawing/2014/main" id="{105B7B72-8790-41D0-969B-22A260A2CA57}"/>
              </a:ext>
            </a:extLst>
          </p:cNvPr>
          <p:cNvSpPr>
            <a:spLocks xmlns:a="http://schemas.openxmlformats.org/drawingml/2006/main" noGrp="1"/>
          </p:cNvSpPr>
          <p:nvPr/>
        </p:nvSpPr>
        <p:spPr>
          <a:xfrm xmlns:a="http://schemas.openxmlformats.org/drawingml/2006/main">
            <a:off x="533400" y="65055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36174"/>
                </a:solidFill>
                <a:latin typeface="Lato"/>
                <a:ea typeface="Lato"/>
                <a:cs typeface="Lato"/>
              </a:defRPr>
            </a:pPr>
            <a:r>
              <a:rPr sz="1275" b="0">
                <a:solidFill>
                  <a:srgbClr val="536174"/>
                </a:solidFill>
                <a:latin typeface="Lato"/>
                <a:ea typeface="Lato"/>
                <a:cs typeface="Lato"/>
              </a:rPr>
              <a:t>IROS 2026  /  Paper 1772</a:t>
            </a:r>
          </a:p>
        </p:txBody>
      </p:sp>
      <p:sp>
        <p:nvSpPr>
          <p:cNvPr id="4" name="03">
            <a:extLst xmlns:a="http://schemas.openxmlformats.org/drawingml/2006/main">
              <a:ext uri="{FF2B5EF4-FFF2-40B4-BE49-F238E27FC236}">
                <a16:creationId xmlns:a16="http://schemas.microsoft.com/office/drawing/2014/main" id="{6D2FAC10-1CB4-4EA6-B7EA-F26B635ACE6C}"/>
              </a:ext>
            </a:extLst>
          </p:cNvPr>
          <p:cNvSpPr>
            <a:spLocks xmlns:a="http://schemas.openxmlformats.org/drawingml/2006/main" noGrp="1"/>
          </p:cNvSpPr>
          <p:nvPr/>
        </p:nvSpPr>
        <p:spPr>
          <a:xfrm xmlns:a="http://schemas.openxmlformats.org/drawingml/2006/main">
            <a:off x="11334750" y="64865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03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b8f9f6379464bc3"/>
          <a:stretch xmlns:a="http://schemas.openxmlformats.org/drawingml/2006/main"/>
        </p:blipFill>
        <p:spPr>
          <a:xfrm xmlns:a="http://schemas.openxmlformats.org/drawingml/2006/main">
            <a:off x="1342009" y="1257300"/>
            <a:ext cx="9507982" cy="4295775"/>
          </a:xfrm>
          <a:prstGeom xmlns:a="http://schemas.openxmlformats.org/drawingml/2006/main" prst="rect">
            <a:avLst/>
          </a:prstGeom>
        </p:spPr>
      </p:pic>
      <p:sp>
        <p:nvSpPr>
          <p:cNvPr id="6" name="Self-Reflective Pipeline">
            <a:extLst xmlns:a="http://schemas.openxmlformats.org/drawingml/2006/main">
              <a:ext uri="{FF2B5EF4-FFF2-40B4-BE49-F238E27FC236}">
                <a16:creationId xmlns:a16="http://schemas.microsoft.com/office/drawing/2014/main" id="{58D15846-459C-4FEB-B896-92EE358C3D33}"/>
              </a:ext>
            </a:extLst>
          </p:cNvPr>
          <p:cNvSpPr>
            <a:spLocks xmlns:a="http://schemas.openxmlformats.org/drawingml/2006/main" noGrp="1"/>
          </p:cNvSpPr>
          <p:nvPr/>
        </p:nvSpPr>
        <p:spPr>
          <a:xfrm xmlns:a="http://schemas.openxmlformats.org/drawingml/2006/main">
            <a:off x="7724775" y="5353050"/>
            <a:ext cx="2562225" cy="2286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8C1616"/>
                </a:solidFill>
                <a:latin typeface="Lato"/>
                <a:ea typeface="Lato"/>
                <a:cs typeface="Lato"/>
              </a:defRPr>
            </a:pPr>
            <a:r>
              <a:rPr sz="1275" b="1">
                <a:solidFill>
                  <a:srgbClr val="8C1616"/>
                </a:solidFill>
                <a:latin typeface="Lato"/>
                <a:ea typeface="Lato"/>
                <a:cs typeface="Lato"/>
              </a:rPr>
              <a:t>Self-Reflective Pipeline</a:t>
            </a:r>
          </a:p>
        </p:txBody>
      </p:sp>
      <p:sp>
        <p:nvSpPr>
          <p:cNvPr id="7" name="HAA-RAG + memory">
            <a:extLst xmlns:a="http://schemas.openxmlformats.org/drawingml/2006/main">
              <a:ext uri="{FF2B5EF4-FFF2-40B4-BE49-F238E27FC236}">
                <a16:creationId xmlns:a16="http://schemas.microsoft.com/office/drawing/2014/main" id="{410574B5-CB35-4C41-BC4D-F252692A9D1E}"/>
              </a:ext>
            </a:extLst>
          </p:cNvPr>
          <p:cNvSpPr>
            <a:spLocks xmlns:a="http://schemas.openxmlformats.org/drawingml/2006/main" noGrp="1"/>
          </p:cNvSpPr>
          <p:nvPr/>
        </p:nvSpPr>
        <p:spPr>
          <a:xfrm xmlns:a="http://schemas.openxmlformats.org/drawingml/2006/main">
            <a:off x="533400" y="5695950"/>
            <a:ext cx="3543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73D8C"/>
                </a:solidFill>
                <a:latin typeface="Lato"/>
                <a:ea typeface="Lato"/>
                <a:cs typeface="Lato"/>
              </a:defRPr>
            </a:pPr>
            <a:r>
              <a:rPr sz="1800" b="1">
                <a:solidFill>
                  <a:srgbClr val="073D8C"/>
                </a:solidFill>
                <a:latin typeface="Lato"/>
                <a:ea typeface="Lato"/>
                <a:cs typeface="Lato"/>
              </a:rPr>
              <a:t>HAA-RAG + memory</a:t>
            </a:r>
          </a:p>
        </p:txBody>
      </p:sp>
      <p:sp>
        <p:nvSpPr>
          <p:cNvPr id="8" name="Retrieve and retain grasp experience.">
            <a:extLst xmlns:a="http://schemas.openxmlformats.org/drawingml/2006/main">
              <a:ext uri="{FF2B5EF4-FFF2-40B4-BE49-F238E27FC236}">
                <a16:creationId xmlns:a16="http://schemas.microsoft.com/office/drawing/2014/main" id="{5DB47E80-9C3E-4A40-BE1C-43D0160F634C}"/>
              </a:ext>
            </a:extLst>
          </p:cNvPr>
          <p:cNvSpPr>
            <a:spLocks xmlns:a="http://schemas.openxmlformats.org/drawingml/2006/main" noGrp="1"/>
          </p:cNvSpPr>
          <p:nvPr/>
        </p:nvSpPr>
        <p:spPr>
          <a:xfrm xmlns:a="http://schemas.openxmlformats.org/drawingml/2006/main">
            <a:off x="533400" y="6057900"/>
            <a:ext cx="354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36174"/>
                </a:solidFill>
                <a:latin typeface="Lato"/>
                <a:ea typeface="Lato"/>
                <a:cs typeface="Lato"/>
              </a:defRPr>
            </a:pPr>
            <a:r>
              <a:rPr sz="1500" b="0">
                <a:solidFill>
                  <a:srgbClr val="536174"/>
                </a:solidFill>
                <a:latin typeface="Lato"/>
                <a:ea typeface="Lato"/>
                <a:cs typeface="Lato"/>
              </a:rPr>
              <a:t>Retrieve and retain grasp experience.</a:t>
            </a:r>
          </a:p>
        </p:txBody>
      </p:sp>
      <p:sp>
        <p:nvSpPr>
          <p:cNvPr id="9" name="Scene graph reasoning">
            <a:extLst xmlns:a="http://schemas.openxmlformats.org/drawingml/2006/main">
              <a:ext uri="{FF2B5EF4-FFF2-40B4-BE49-F238E27FC236}">
                <a16:creationId xmlns:a16="http://schemas.microsoft.com/office/drawing/2014/main" id="{448C6E9B-1048-4A05-B295-37660AE57831}"/>
              </a:ext>
            </a:extLst>
          </p:cNvPr>
          <p:cNvSpPr>
            <a:spLocks xmlns:a="http://schemas.openxmlformats.org/drawingml/2006/main" noGrp="1"/>
          </p:cNvSpPr>
          <p:nvPr/>
        </p:nvSpPr>
        <p:spPr>
          <a:xfrm xmlns:a="http://schemas.openxmlformats.org/drawingml/2006/main">
            <a:off x="4324350" y="5695950"/>
            <a:ext cx="3543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73D8C"/>
                </a:solidFill>
                <a:latin typeface="Lato"/>
                <a:ea typeface="Lato"/>
                <a:cs typeface="Lato"/>
              </a:defRPr>
            </a:pPr>
            <a:r>
              <a:rPr sz="1800" b="1">
                <a:solidFill>
                  <a:srgbClr val="073D8C"/>
                </a:solidFill>
                <a:latin typeface="Lato"/>
                <a:ea typeface="Lato"/>
                <a:cs typeface="Lato"/>
              </a:rPr>
              <a:t>Scene graph reasoning</a:t>
            </a:r>
          </a:p>
        </p:txBody>
      </p:sp>
      <p:sp>
        <p:nvSpPr>
          <p:cNvPr id="10" name="Apply spatial constraints to the plan.">
            <a:extLst xmlns:a="http://schemas.openxmlformats.org/drawingml/2006/main">
              <a:ext uri="{FF2B5EF4-FFF2-40B4-BE49-F238E27FC236}">
                <a16:creationId xmlns:a16="http://schemas.microsoft.com/office/drawing/2014/main" id="{61F76B28-B36C-4AF2-A7BE-B8D9CE47BF2C}"/>
              </a:ext>
            </a:extLst>
          </p:cNvPr>
          <p:cNvSpPr>
            <a:spLocks xmlns:a="http://schemas.openxmlformats.org/drawingml/2006/main" noGrp="1"/>
          </p:cNvSpPr>
          <p:nvPr/>
        </p:nvSpPr>
        <p:spPr>
          <a:xfrm xmlns:a="http://schemas.openxmlformats.org/drawingml/2006/main">
            <a:off x="4324350" y="6057900"/>
            <a:ext cx="354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36174"/>
                </a:solidFill>
                <a:latin typeface="Lato"/>
                <a:ea typeface="Lato"/>
                <a:cs typeface="Lato"/>
              </a:defRPr>
            </a:pPr>
            <a:r>
              <a:rPr sz="1500" b="0">
                <a:solidFill>
                  <a:srgbClr val="536174"/>
                </a:solidFill>
                <a:latin typeface="Lato"/>
                <a:ea typeface="Lato"/>
                <a:cs typeface="Lato"/>
              </a:rPr>
              <a:t>Apply spatial constraints to the plan.</a:t>
            </a:r>
          </a:p>
        </p:txBody>
      </p:sp>
      <p:sp>
        <p:nvSpPr>
          <p:cNvPr id="11" name="Self-reflective recovery">
            <a:extLst xmlns:a="http://schemas.openxmlformats.org/drawingml/2006/main">
              <a:ext uri="{FF2B5EF4-FFF2-40B4-BE49-F238E27FC236}">
                <a16:creationId xmlns:a16="http://schemas.microsoft.com/office/drawing/2014/main" id="{1AB42025-32DC-4882-9F46-AE91299FA343}"/>
              </a:ext>
            </a:extLst>
          </p:cNvPr>
          <p:cNvSpPr>
            <a:spLocks xmlns:a="http://schemas.openxmlformats.org/drawingml/2006/main" noGrp="1"/>
          </p:cNvSpPr>
          <p:nvPr/>
        </p:nvSpPr>
        <p:spPr>
          <a:xfrm xmlns:a="http://schemas.openxmlformats.org/drawingml/2006/main">
            <a:off x="8115300" y="5695950"/>
            <a:ext cx="3543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73D8C"/>
                </a:solidFill>
                <a:latin typeface="Lato"/>
                <a:ea typeface="Lato"/>
                <a:cs typeface="Lato"/>
              </a:defRPr>
            </a:pPr>
            <a:r>
              <a:rPr sz="1800" b="1">
                <a:solidFill>
                  <a:srgbClr val="073D8C"/>
                </a:solidFill>
                <a:latin typeface="Lato"/>
                <a:ea typeface="Lato"/>
                <a:cs typeface="Lato"/>
              </a:rPr>
              <a:t>Self-reflective recovery</a:t>
            </a:r>
          </a:p>
        </p:txBody>
      </p:sp>
      <p:sp>
        <p:nvSpPr>
          <p:cNvPr id="12" name="Tune parameters, switch method, replan.">
            <a:extLst xmlns:a="http://schemas.openxmlformats.org/drawingml/2006/main">
              <a:ext uri="{FF2B5EF4-FFF2-40B4-BE49-F238E27FC236}">
                <a16:creationId xmlns:a16="http://schemas.microsoft.com/office/drawing/2014/main" id="{5CDBE65E-D600-41CB-8CFE-0865BFC59AFA}"/>
              </a:ext>
            </a:extLst>
          </p:cNvPr>
          <p:cNvSpPr>
            <a:spLocks xmlns:a="http://schemas.openxmlformats.org/drawingml/2006/main" noGrp="1"/>
          </p:cNvSpPr>
          <p:nvPr/>
        </p:nvSpPr>
        <p:spPr>
          <a:xfrm xmlns:a="http://schemas.openxmlformats.org/drawingml/2006/main">
            <a:off x="8115300" y="6057900"/>
            <a:ext cx="354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36174"/>
                </a:solidFill>
                <a:latin typeface="Lato"/>
                <a:ea typeface="Lato"/>
                <a:cs typeface="Lato"/>
              </a:defRPr>
            </a:pPr>
            <a:r>
              <a:rPr sz="1500" b="0">
                <a:solidFill>
                  <a:srgbClr val="536174"/>
                </a:solidFill>
                <a:latin typeface="Lato"/>
                <a:ea typeface="Lato"/>
                <a:cs typeface="Lato"/>
              </a:rPr>
              <a:t>Tune parameters, switch method, replan.</a:t>
            </a:r>
          </a:p>
        </p:txBody>
      </p:sp>
    </p:spTree>
    <p:extLst>
      <p:ext uri="{BB962C8B-B14F-4D97-AF65-F5344CB8AC3E}">
        <p14:creationId xmlns:p14="http://schemas.microsoft.com/office/powerpoint/2010/main" val="15530861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mponent comparisons reported in the paper">
            <a:extLst xmlns:a="http://schemas.openxmlformats.org/drawingml/2006/main">
              <a:ext uri="{FF2B5EF4-FFF2-40B4-BE49-F238E27FC236}">
                <a16:creationId xmlns:a16="http://schemas.microsoft.com/office/drawing/2014/main" id="{20217A0D-DF9A-498F-8713-7FCF0ACEA07E}"/>
              </a:ext>
            </a:extLst>
          </p:cNvPr>
          <p:cNvSpPr>
            <a:spLocks xmlns:a="http://schemas.openxmlformats.org/drawingml/2006/main" noGrp="1"/>
          </p:cNvSpPr>
          <p:nvPr/>
        </p:nvSpPr>
        <p:spPr>
          <a:xfrm xmlns:a="http://schemas.openxmlformats.org/drawingml/2006/main">
            <a:off x="533400" y="3810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72D4B"/>
                </a:solidFill>
                <a:latin typeface="Lato"/>
                <a:ea typeface="Lato"/>
                <a:cs typeface="Lato"/>
              </a:defRPr>
            </a:pPr>
            <a:r>
              <a:rPr sz="3000" b="1">
                <a:solidFill>
                  <a:srgbClr val="172D4B"/>
                </a:solidFill>
                <a:latin typeface="Lato"/>
                <a:ea typeface="Lato"/>
                <a:cs typeface="Lato"/>
              </a:rPr>
              <a:t>Component comparisons reported in the paper</a:t>
            </a:r>
          </a:p>
        </p:txBody>
      </p:sp>
      <p:sp>
        <p:nvSpPr>
          <p:cNvPr id="2" name="">
            <a:extLst xmlns:a="http://schemas.openxmlformats.org/drawingml/2006/main">
              <a:ext uri="{FF2B5EF4-FFF2-40B4-BE49-F238E27FC236}">
                <a16:creationId xmlns:a16="http://schemas.microsoft.com/office/drawing/2014/main" id="{9DCBDD16-E48E-44DB-9BF8-A7EF20EA3F88}"/>
              </a:ext>
            </a:extLst>
          </p:cNvPr>
          <p:cNvSpPr>
            <a:spLocks xmlns:a="http://schemas.openxmlformats.org/drawingml/2006/main" noGrp="1"/>
          </p:cNvSpPr>
          <p:nvPr/>
        </p:nvSpPr>
        <p:spPr>
          <a:xfrm xmlns:a="http://schemas.openxmlformats.org/drawingml/2006/main">
            <a:off x="533400" y="1114425"/>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3" name="IROS 2026  /  Paper 1772">
            <a:extLst xmlns:a="http://schemas.openxmlformats.org/drawingml/2006/main">
              <a:ext uri="{FF2B5EF4-FFF2-40B4-BE49-F238E27FC236}">
                <a16:creationId xmlns:a16="http://schemas.microsoft.com/office/drawing/2014/main" id="{1C5E2198-48E7-4C31-908A-EF975D1633FF}"/>
              </a:ext>
            </a:extLst>
          </p:cNvPr>
          <p:cNvSpPr>
            <a:spLocks xmlns:a="http://schemas.openxmlformats.org/drawingml/2006/main" noGrp="1"/>
          </p:cNvSpPr>
          <p:nvPr/>
        </p:nvSpPr>
        <p:spPr>
          <a:xfrm xmlns:a="http://schemas.openxmlformats.org/drawingml/2006/main">
            <a:off x="533400" y="65055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36174"/>
                </a:solidFill>
                <a:latin typeface="Lato"/>
                <a:ea typeface="Lato"/>
                <a:cs typeface="Lato"/>
              </a:defRPr>
            </a:pPr>
            <a:r>
              <a:rPr sz="1275" b="0">
                <a:solidFill>
                  <a:srgbClr val="536174"/>
                </a:solidFill>
                <a:latin typeface="Lato"/>
                <a:ea typeface="Lato"/>
                <a:cs typeface="Lato"/>
              </a:rPr>
              <a:t>IROS 2026  /  Paper 1772</a:t>
            </a:r>
          </a:p>
        </p:txBody>
      </p:sp>
      <p:sp>
        <p:nvSpPr>
          <p:cNvPr id="4" name="04">
            <a:extLst xmlns:a="http://schemas.openxmlformats.org/drawingml/2006/main">
              <a:ext uri="{FF2B5EF4-FFF2-40B4-BE49-F238E27FC236}">
                <a16:creationId xmlns:a16="http://schemas.microsoft.com/office/drawing/2014/main" id="{8E0E7867-EE02-49EC-9CD0-0A1B17446BC7}"/>
              </a:ext>
            </a:extLst>
          </p:cNvPr>
          <p:cNvSpPr>
            <a:spLocks xmlns:a="http://schemas.openxmlformats.org/drawingml/2006/main" noGrp="1"/>
          </p:cNvSpPr>
          <p:nvPr/>
        </p:nvSpPr>
        <p:spPr>
          <a:xfrm xmlns:a="http://schemas.openxmlformats.org/drawingml/2006/main">
            <a:off x="11334750" y="64865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04</a:t>
            </a:r>
          </a:p>
        </p:txBody>
      </p:sp>
      <p:sp>
        <p:nvSpPr>
          <p:cNvPr id="5" name="12 tasks, 360 trials per configuration. Success rate (%)">
            <a:extLst xmlns:a="http://schemas.openxmlformats.org/drawingml/2006/main">
              <a:ext uri="{FF2B5EF4-FFF2-40B4-BE49-F238E27FC236}">
                <a16:creationId xmlns:a16="http://schemas.microsoft.com/office/drawing/2014/main" id="{B4C87567-905C-48E2-9A73-D76BF068D5BC}"/>
              </a:ext>
            </a:extLst>
          </p:cNvPr>
          <p:cNvSpPr>
            <a:spLocks xmlns:a="http://schemas.openxmlformats.org/drawingml/2006/main" noGrp="1"/>
          </p:cNvSpPr>
          <p:nvPr/>
        </p:nvSpPr>
        <p:spPr>
          <a:xfrm xmlns:a="http://schemas.openxmlformats.org/drawingml/2006/main">
            <a:off x="533400" y="13811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36174"/>
                </a:solidFill>
                <a:latin typeface="Lato"/>
                <a:ea typeface="Lato"/>
                <a:cs typeface="Lato"/>
              </a:defRPr>
            </a:pPr>
            <a:r>
              <a:rPr sz="1950" b="0">
                <a:solidFill>
                  <a:srgbClr val="536174"/>
                </a:solidFill>
                <a:latin typeface="Lato"/>
                <a:ea typeface="Lato"/>
                <a:cs typeface="Lato"/>
              </a:rPr>
              <a:t>12 tasks, 360 trials per configuration. Success rate (%)</a:t>
            </a:r>
          </a:p>
        </p:txBody>
      </p:sp>
      <p:graphicFrame>
        <p:nvGraphicFramePr>
          <p:cNvPr id="20" name="Chart"/>
          <p:cNvGraphicFramePr/>
          <p:nvPr/>
        </p:nvGraphicFramePr>
        <p:xfrm>
          <a:off xmlns:a="http://schemas.openxmlformats.org/drawingml/2006/main" x="381000" y="1895475"/>
          <a:ext xmlns:a="http://schemas.openxmlformats.org/drawingml/2006/main" cx="7019925" cy="3686175"/>
        </p:xfrm>
        <a:graphic xmlns:a="http://schemas.openxmlformats.org/drawingml/2006/main">
          <a:graphicData uri="http://schemas.openxmlformats.org/drawingml/2006/chart">
            <c:chart xmlns:r="http://schemas.openxmlformats.org/officeDocument/2006/relationships" xmlns:c="http://schemas.openxmlformats.org/drawingml/2006/chart" r:id="R8a4c6e1458a3479c"/>
          </a:graphicData>
        </a:graphic>
      </p:graphicFrame>
      <p:sp>
        <p:nvSpPr>
          <p:cNvPr id="7" name="Retrieval / overall">
            <a:extLst xmlns:a="http://schemas.openxmlformats.org/drawingml/2006/main">
              <a:ext uri="{FF2B5EF4-FFF2-40B4-BE49-F238E27FC236}">
                <a16:creationId xmlns:a16="http://schemas.microsoft.com/office/drawing/2014/main" id="{F3E285F5-3120-4A29-A16F-43D5BBC17493}"/>
              </a:ext>
            </a:extLst>
          </p:cNvPr>
          <p:cNvSpPr>
            <a:spLocks xmlns:a="http://schemas.openxmlformats.org/drawingml/2006/main" noGrp="1"/>
          </p:cNvSpPr>
          <p:nvPr/>
        </p:nvSpPr>
        <p:spPr>
          <a:xfrm xmlns:a="http://schemas.openxmlformats.org/drawingml/2006/main">
            <a:off x="7696200" y="1971675"/>
            <a:ext cx="3962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73D8C"/>
                </a:solidFill>
                <a:latin typeface="Lato"/>
                <a:ea typeface="Lato"/>
                <a:cs typeface="Lato"/>
              </a:defRPr>
            </a:pPr>
            <a:r>
              <a:rPr sz="1950" b="1">
                <a:solidFill>
                  <a:srgbClr val="073D8C"/>
                </a:solidFill>
                <a:latin typeface="Lato"/>
                <a:ea typeface="Lato"/>
                <a:cs typeface="Lato"/>
              </a:rPr>
              <a:t>Retrieval / overall</a:t>
            </a:r>
          </a:p>
        </p:txBody>
      </p:sp>
      <p:sp>
        <p:nvSpPr>
          <p:cNvPr id="8" name="78.3% Full vs. 25.0% no HAA-RAG">
            <a:extLst xmlns:a="http://schemas.openxmlformats.org/drawingml/2006/main">
              <a:ext uri="{FF2B5EF4-FFF2-40B4-BE49-F238E27FC236}">
                <a16:creationId xmlns:a16="http://schemas.microsoft.com/office/drawing/2014/main" id="{9BC80BB2-F2BA-4A36-B267-5488135B5258}"/>
              </a:ext>
            </a:extLst>
          </p:cNvPr>
          <p:cNvSpPr>
            <a:spLocks xmlns:a="http://schemas.openxmlformats.org/drawingml/2006/main" noGrp="1"/>
          </p:cNvSpPr>
          <p:nvPr/>
        </p:nvSpPr>
        <p:spPr>
          <a:xfrm xmlns:a="http://schemas.openxmlformats.org/drawingml/2006/main">
            <a:off x="7696200" y="2419350"/>
            <a:ext cx="3962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2D4B"/>
                </a:solidFill>
                <a:latin typeface="Lato"/>
                <a:ea typeface="Lato"/>
                <a:cs typeface="Lato"/>
              </a:defRPr>
            </a:pPr>
            <a:r>
              <a:rPr sz="1800" b="0">
                <a:solidFill>
                  <a:srgbClr val="172D4B"/>
                </a:solidFill>
                <a:latin typeface="Lato"/>
                <a:ea typeface="Lato"/>
                <a:cs typeface="Lato"/>
              </a:rPr>
              <a:t>78.3% Full vs. 25.0% no HAA-RAG</a:t>
            </a:r>
          </a:p>
        </p:txBody>
      </p:sp>
      <p:sp>
        <p:nvSpPr>
          <p:cNvPr id="9" name="Recovery / overall">
            <a:extLst xmlns:a="http://schemas.openxmlformats.org/drawingml/2006/main">
              <a:ext uri="{FF2B5EF4-FFF2-40B4-BE49-F238E27FC236}">
                <a16:creationId xmlns:a16="http://schemas.microsoft.com/office/drawing/2014/main" id="{8582E95E-C241-49FC-94F4-4A0B4A13A6E1}"/>
              </a:ext>
            </a:extLst>
          </p:cNvPr>
          <p:cNvSpPr>
            <a:spLocks xmlns:a="http://schemas.openxmlformats.org/drawingml/2006/main" noGrp="1"/>
          </p:cNvSpPr>
          <p:nvPr/>
        </p:nvSpPr>
        <p:spPr>
          <a:xfrm xmlns:a="http://schemas.openxmlformats.org/drawingml/2006/main">
            <a:off x="7696200" y="3171825"/>
            <a:ext cx="3962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73D8C"/>
                </a:solidFill>
                <a:latin typeface="Lato"/>
                <a:ea typeface="Lato"/>
                <a:cs typeface="Lato"/>
              </a:defRPr>
            </a:pPr>
            <a:r>
              <a:rPr sz="1950" b="1">
                <a:solidFill>
                  <a:srgbClr val="073D8C"/>
                </a:solidFill>
                <a:latin typeface="Lato"/>
                <a:ea typeface="Lato"/>
                <a:cs typeface="Lato"/>
              </a:rPr>
              <a:t>Recovery / overall</a:t>
            </a:r>
          </a:p>
        </p:txBody>
      </p:sp>
      <p:sp>
        <p:nvSpPr>
          <p:cNvPr id="10" name="78.3% Full vs. 46.7% no recovery">
            <a:extLst xmlns:a="http://schemas.openxmlformats.org/drawingml/2006/main">
              <a:ext uri="{FF2B5EF4-FFF2-40B4-BE49-F238E27FC236}">
                <a16:creationId xmlns:a16="http://schemas.microsoft.com/office/drawing/2014/main" id="{FF60A971-FE3E-48A7-8790-0998DBDE15FA}"/>
              </a:ext>
            </a:extLst>
          </p:cNvPr>
          <p:cNvSpPr>
            <a:spLocks xmlns:a="http://schemas.openxmlformats.org/drawingml/2006/main" noGrp="1"/>
          </p:cNvSpPr>
          <p:nvPr/>
        </p:nvSpPr>
        <p:spPr>
          <a:xfrm xmlns:a="http://schemas.openxmlformats.org/drawingml/2006/main">
            <a:off x="7696200" y="3619500"/>
            <a:ext cx="3962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2D4B"/>
                </a:solidFill>
                <a:latin typeface="Lato"/>
                <a:ea typeface="Lato"/>
                <a:cs typeface="Lato"/>
              </a:defRPr>
            </a:pPr>
            <a:r>
              <a:rPr sz="1800" b="0">
                <a:solidFill>
                  <a:srgbClr val="172D4B"/>
                </a:solidFill>
                <a:latin typeface="Lato"/>
                <a:ea typeface="Lato"/>
                <a:cs typeface="Lato"/>
              </a:rPr>
              <a:t>78.3% Full vs. 46.7% no recovery</a:t>
            </a:r>
          </a:p>
        </p:txBody>
      </p:sp>
      <p:sp>
        <p:nvSpPr>
          <p:cNvPr id="11" name="Scene graph / interactive tasks">
            <a:extLst xmlns:a="http://schemas.openxmlformats.org/drawingml/2006/main">
              <a:ext uri="{FF2B5EF4-FFF2-40B4-BE49-F238E27FC236}">
                <a16:creationId xmlns:a16="http://schemas.microsoft.com/office/drawing/2014/main" id="{DB0E6844-7AC9-43CA-9769-90B0AAB9E9B5}"/>
              </a:ext>
            </a:extLst>
          </p:cNvPr>
          <p:cNvSpPr>
            <a:spLocks xmlns:a="http://schemas.openxmlformats.org/drawingml/2006/main" noGrp="1"/>
          </p:cNvSpPr>
          <p:nvPr/>
        </p:nvSpPr>
        <p:spPr>
          <a:xfrm xmlns:a="http://schemas.openxmlformats.org/drawingml/2006/main">
            <a:off x="7696200" y="4371975"/>
            <a:ext cx="3962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73D8C"/>
                </a:solidFill>
                <a:latin typeface="Lato"/>
                <a:ea typeface="Lato"/>
                <a:cs typeface="Lato"/>
              </a:defRPr>
            </a:pPr>
            <a:r>
              <a:rPr sz="1950" b="1">
                <a:solidFill>
                  <a:srgbClr val="073D8C"/>
                </a:solidFill>
                <a:latin typeface="Lato"/>
                <a:ea typeface="Lato"/>
                <a:cs typeface="Lato"/>
              </a:rPr>
              <a:t>Scene graph / interactive tasks</a:t>
            </a:r>
          </a:p>
        </p:txBody>
      </p:sp>
      <p:sp>
        <p:nvSpPr>
          <p:cNvPr id="12" name="64.2% Full vs. 25.0% no scene graph">
            <a:extLst xmlns:a="http://schemas.openxmlformats.org/drawingml/2006/main">
              <a:ext uri="{FF2B5EF4-FFF2-40B4-BE49-F238E27FC236}">
                <a16:creationId xmlns:a16="http://schemas.microsoft.com/office/drawing/2014/main" id="{645FA530-578E-47E9-9141-C883546DECF8}"/>
              </a:ext>
            </a:extLst>
          </p:cNvPr>
          <p:cNvSpPr>
            <a:spLocks xmlns:a="http://schemas.openxmlformats.org/drawingml/2006/main" noGrp="1"/>
          </p:cNvSpPr>
          <p:nvPr/>
        </p:nvSpPr>
        <p:spPr>
          <a:xfrm xmlns:a="http://schemas.openxmlformats.org/drawingml/2006/main">
            <a:off x="7696200" y="4819650"/>
            <a:ext cx="3962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2D4B"/>
                </a:solidFill>
                <a:latin typeface="Lato"/>
                <a:ea typeface="Lato"/>
                <a:cs typeface="Lato"/>
              </a:defRPr>
            </a:pPr>
            <a:r>
              <a:rPr sz="1800" b="0">
                <a:solidFill>
                  <a:srgbClr val="172D4B"/>
                </a:solidFill>
                <a:latin typeface="Lato"/>
                <a:ea typeface="Lato"/>
                <a:cs typeface="Lato"/>
              </a:rPr>
              <a:t>64.2% Full vs. 25.0% no scene graph</a:t>
            </a:r>
          </a:p>
        </p:txBody>
      </p:sp>
      <p:sp>
        <p:nvSpPr>
          <p:cNvPr id="13" name="Heuristic scores higher than Full on single-grasp and long-horizo">
            <a:extLst xmlns:a="http://schemas.openxmlformats.org/drawingml/2006/main">
              <a:ext uri="{FF2B5EF4-FFF2-40B4-BE49-F238E27FC236}">
                <a16:creationId xmlns:a16="http://schemas.microsoft.com/office/drawing/2014/main" id="{42FB15D0-A121-414A-AF8A-A43F78442FF0}"/>
              </a:ext>
            </a:extLst>
          </p:cNvPr>
          <p:cNvSpPr>
            <a:spLocks xmlns:a="http://schemas.openxmlformats.org/drawingml/2006/main" noGrp="1"/>
          </p:cNvSpPr>
          <p:nvPr/>
        </p:nvSpPr>
        <p:spPr>
          <a:xfrm xmlns:a="http://schemas.openxmlformats.org/drawingml/2006/main">
            <a:off x="533400" y="56007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36174"/>
                </a:solidFill>
                <a:latin typeface="Lato"/>
                <a:ea typeface="Lato"/>
                <a:cs typeface="Lato"/>
              </a:defRPr>
            </a:pPr>
            <a:r>
              <a:rPr sz="1575" b="0">
                <a:solidFill>
                  <a:srgbClr val="536174"/>
                </a:solidFill>
                <a:latin typeface="Lato"/>
                <a:ea typeface="Lato"/>
                <a:cs typeface="Lato"/>
              </a:rPr>
              <a:t>Heuristic scores higher than Full on single-grasp and long-horizon tasks.</a:t>
            </a:r>
          </a:p>
        </p:txBody>
      </p:sp>
      <p:sp>
        <p:nvSpPr>
          <p:cNvPr id="14" name="Analytical simulation: quality-model-based outcomes.&#10;Paper-report">
            <a:extLst xmlns:a="http://schemas.openxmlformats.org/drawingml/2006/main">
              <a:ext uri="{FF2B5EF4-FFF2-40B4-BE49-F238E27FC236}">
                <a16:creationId xmlns:a16="http://schemas.microsoft.com/office/drawing/2014/main" id="{14979453-24EC-4D04-B7C4-FA86FC740F00}"/>
              </a:ext>
            </a:extLst>
          </p:cNvPr>
          <p:cNvSpPr>
            <a:spLocks xmlns:a="http://schemas.openxmlformats.org/drawingml/2006/main" noGrp="1"/>
          </p:cNvSpPr>
          <p:nvPr/>
        </p:nvSpPr>
        <p:spPr>
          <a:xfrm xmlns:a="http://schemas.openxmlformats.org/drawingml/2006/main">
            <a:off x="533400" y="60007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Analytical simulation: quality-model-based outcomes.</a:t>
            </a:r>
          </a:p>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Paper-reported values; original trial logs unavailable for reanalysis.</a:t>
            </a:r>
          </a:p>
        </p:txBody>
      </p:sp>
    </p:spTree>
    <p:extLst>
      <p:ext uri="{BB962C8B-B14F-4D97-AF65-F5344CB8AC3E}">
        <p14:creationId xmlns:p14="http://schemas.microsoft.com/office/powerpoint/2010/main" val="17083658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Recipe-guided ingredient preparation in VLABench">
            <a:extLst xmlns:a="http://schemas.openxmlformats.org/drawingml/2006/main">
              <a:ext uri="{FF2B5EF4-FFF2-40B4-BE49-F238E27FC236}">
                <a16:creationId xmlns:a16="http://schemas.microsoft.com/office/drawing/2014/main" id="{C1D47FD3-DA59-4A60-87ED-D33DC2F72CF2}"/>
              </a:ext>
            </a:extLst>
          </p:cNvPr>
          <p:cNvSpPr>
            <a:spLocks xmlns:a="http://schemas.openxmlformats.org/drawingml/2006/main" noGrp="1"/>
          </p:cNvSpPr>
          <p:nvPr/>
        </p:nvSpPr>
        <p:spPr>
          <a:xfrm xmlns:a="http://schemas.openxmlformats.org/drawingml/2006/main">
            <a:off x="533400" y="3810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72D4B"/>
                </a:solidFill>
                <a:latin typeface="Lato"/>
                <a:ea typeface="Lato"/>
                <a:cs typeface="Lato"/>
              </a:defRPr>
            </a:pPr>
            <a:r>
              <a:rPr sz="3000" b="1">
                <a:solidFill>
                  <a:srgbClr val="172D4B"/>
                </a:solidFill>
                <a:latin typeface="Lato"/>
                <a:ea typeface="Lato"/>
                <a:cs typeface="Lato"/>
              </a:rPr>
              <a:t>Recipe-guided ingredient preparation in VLABench</a:t>
            </a:r>
          </a:p>
        </p:txBody>
      </p:sp>
      <p:sp>
        <p:nvSpPr>
          <p:cNvPr id="2" name="">
            <a:extLst xmlns:a="http://schemas.openxmlformats.org/drawingml/2006/main">
              <a:ext uri="{FF2B5EF4-FFF2-40B4-BE49-F238E27FC236}">
                <a16:creationId xmlns:a16="http://schemas.microsoft.com/office/drawing/2014/main" id="{5A73337F-02B4-4516-B0D0-978BF0DE27AE}"/>
              </a:ext>
            </a:extLst>
          </p:cNvPr>
          <p:cNvSpPr>
            <a:spLocks xmlns:a="http://schemas.openxmlformats.org/drawingml/2006/main" noGrp="1"/>
          </p:cNvSpPr>
          <p:nvPr/>
        </p:nvSpPr>
        <p:spPr>
          <a:xfrm xmlns:a="http://schemas.openxmlformats.org/drawingml/2006/main">
            <a:off x="533400" y="1114425"/>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3" name="IROS 2026  /  Paper 1772">
            <a:extLst xmlns:a="http://schemas.openxmlformats.org/drawingml/2006/main">
              <a:ext uri="{FF2B5EF4-FFF2-40B4-BE49-F238E27FC236}">
                <a16:creationId xmlns:a16="http://schemas.microsoft.com/office/drawing/2014/main" id="{D4ADED83-CB4A-401B-9E6E-F7E9B7C4DD31}"/>
              </a:ext>
            </a:extLst>
          </p:cNvPr>
          <p:cNvSpPr>
            <a:spLocks xmlns:a="http://schemas.openxmlformats.org/drawingml/2006/main" noGrp="1"/>
          </p:cNvSpPr>
          <p:nvPr/>
        </p:nvSpPr>
        <p:spPr>
          <a:xfrm xmlns:a="http://schemas.openxmlformats.org/drawingml/2006/main">
            <a:off x="533400" y="65055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36174"/>
                </a:solidFill>
                <a:latin typeface="Lato"/>
                <a:ea typeface="Lato"/>
                <a:cs typeface="Lato"/>
              </a:defRPr>
            </a:pPr>
            <a:r>
              <a:rPr sz="1275" b="0">
                <a:solidFill>
                  <a:srgbClr val="536174"/>
                </a:solidFill>
                <a:latin typeface="Lato"/>
                <a:ea typeface="Lato"/>
                <a:cs typeface="Lato"/>
              </a:rPr>
              <a:t>IROS 2026  /  Paper 1772</a:t>
            </a:r>
          </a:p>
        </p:txBody>
      </p:sp>
      <p:sp>
        <p:nvSpPr>
          <p:cNvPr id="4" name="05">
            <a:extLst xmlns:a="http://schemas.openxmlformats.org/drawingml/2006/main">
              <a:ext uri="{FF2B5EF4-FFF2-40B4-BE49-F238E27FC236}">
                <a16:creationId xmlns:a16="http://schemas.microsoft.com/office/drawing/2014/main" id="{7CEE01D6-748E-4F84-9F48-19BA403E4962}"/>
              </a:ext>
            </a:extLst>
          </p:cNvPr>
          <p:cNvSpPr>
            <a:spLocks xmlns:a="http://schemas.openxmlformats.org/drawingml/2006/main" noGrp="1"/>
          </p:cNvSpPr>
          <p:nvPr/>
        </p:nvSpPr>
        <p:spPr>
          <a:xfrm xmlns:a="http://schemas.openxmlformats.org/drawingml/2006/main">
            <a:off x="11334750" y="64865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05</a:t>
            </a:r>
          </a:p>
        </p:txBody>
      </p:sp>
      <p:sp>
        <p:nvSpPr>
          <p:cNvPr id="5" name="Task: prepare the ingredients for a broccoli and cheese bake on a">
            <a:extLst xmlns:a="http://schemas.openxmlformats.org/drawingml/2006/main">
              <a:ext uri="{FF2B5EF4-FFF2-40B4-BE49-F238E27FC236}">
                <a16:creationId xmlns:a16="http://schemas.microsoft.com/office/drawing/2014/main" id="{8336C380-BC32-4C97-B593-E9502075B624}"/>
              </a:ext>
            </a:extLst>
          </p:cNvPr>
          <p:cNvSpPr>
            <a:spLocks xmlns:a="http://schemas.openxmlformats.org/drawingml/2006/main" noGrp="1"/>
          </p:cNvSpPr>
          <p:nvPr/>
        </p:nvSpPr>
        <p:spPr>
          <a:xfrm xmlns:a="http://schemas.openxmlformats.org/drawingml/2006/main">
            <a:off x="533400" y="1362075"/>
            <a:ext cx="1112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36174"/>
                </a:solidFill>
                <a:latin typeface="Lato"/>
                <a:ea typeface="Lato"/>
                <a:cs typeface="Lato"/>
              </a:defRPr>
            </a:pPr>
            <a:r>
              <a:rPr sz="1800" b="0">
                <a:solidFill>
                  <a:srgbClr val="536174"/>
                </a:solidFill>
                <a:latin typeface="Lato"/>
                <a:ea typeface="Lato"/>
                <a:cs typeface="Lato"/>
              </a:rPr>
              <a:t>Task: prepare the ingredients for a broccoli and cheese bake on a plate.</a:t>
            </a:r>
          </a:p>
        </p:txBody>
      </p:sp>
      <p:pic>
        <p:nvPicPr>
          <p:cNvPr id="20" name="Cook dishes embedded video" descr="Original 33.9 second VLABench execution recording">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CookVideo"/>
            <p:extLst>
              <p:ext uri="{DAA4B4D4-6D71-4841-9C94-3DE7FCFB9230}">
                <p14:media xmlns:p14="http://schemas.microsoft.com/office/powerpoint/2010/main" xmlns:ns3="http://schemas.openxmlformats.org/officeDocument/2006/relationships" ns3:embed="rIdCookMedia"/>
              </p:ext>
            </p:extLst>
          </p:nvPr>
        </p:nvPicPr>
        <p:blipFill>
          <a:blip xmlns:r="http://schemas.openxmlformats.org/officeDocument/2006/relationships" xmlns:a="http://schemas.openxmlformats.org/drawingml/2006/main" r:embed="R0036fcd94c524cf9"/>
          <a:stretch xmlns:a="http://schemas.openxmlformats.org/drawingml/2006/main"/>
        </p:blipFill>
        <p:spPr>
          <a:xfrm xmlns:a="http://schemas.openxmlformats.org/drawingml/2006/main">
            <a:off x="533400" y="1781175"/>
            <a:ext cx="4572000" cy="4572000"/>
          </a:xfrm>
          <a:prstGeom xmlns:a="http://schemas.openxmlformats.org/drawingml/2006/main" prst="rect">
            <a:avLst/>
          </a:prstGeom>
        </p:spPr>
      </p:pic>
      <p:sp>
        <p:nvSpPr>
          <p:cNvPr id="7" name="Recipe knowledge: what to pick">
            <a:extLst xmlns:a="http://schemas.openxmlformats.org/drawingml/2006/main">
              <a:ext uri="{FF2B5EF4-FFF2-40B4-BE49-F238E27FC236}">
                <a16:creationId xmlns:a16="http://schemas.microsoft.com/office/drawing/2014/main" id="{C6B63A38-D4FE-41E9-ACB9-6E500CAAC1BC}"/>
              </a:ext>
            </a:extLst>
          </p:cNvPr>
          <p:cNvSpPr>
            <a:spLocks xmlns:a="http://schemas.openxmlformats.org/drawingml/2006/main" noGrp="1"/>
          </p:cNvSpPr>
          <p:nvPr/>
        </p:nvSpPr>
        <p:spPr>
          <a:xfrm xmlns:a="http://schemas.openxmlformats.org/drawingml/2006/main">
            <a:off x="5514975" y="1819275"/>
            <a:ext cx="614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73D8C"/>
                </a:solidFill>
                <a:latin typeface="Lato"/>
                <a:ea typeface="Lato"/>
                <a:cs typeface="Lato"/>
              </a:defRPr>
            </a:pPr>
            <a:r>
              <a:rPr sz="1950" b="1">
                <a:solidFill>
                  <a:srgbClr val="073D8C"/>
                </a:solidFill>
                <a:latin typeface="Lato"/>
                <a:ea typeface="Lato"/>
                <a:cs typeface="Lato"/>
              </a:rPr>
              <a:t>Recipe knowledge: what to pick</a:t>
            </a:r>
          </a:p>
        </p:txBody>
      </p:sp>
      <p:sp>
        <p:nvSpPr>
          <p:cNvPr id="8" name="VLM proposal: broccoli, cheese, fish.&#10;Specified recipe: broccoli ">
            <a:extLst xmlns:a="http://schemas.openxmlformats.org/drawingml/2006/main">
              <a:ext uri="{FF2B5EF4-FFF2-40B4-BE49-F238E27FC236}">
                <a16:creationId xmlns:a16="http://schemas.microsoft.com/office/drawing/2014/main" id="{92FD41AA-C174-441F-8470-F56495B21AE3}"/>
              </a:ext>
            </a:extLst>
          </p:cNvPr>
          <p:cNvSpPr>
            <a:spLocks xmlns:a="http://schemas.openxmlformats.org/drawingml/2006/main" noGrp="1"/>
          </p:cNvSpPr>
          <p:nvPr/>
        </p:nvSpPr>
        <p:spPr>
          <a:xfrm xmlns:a="http://schemas.openxmlformats.org/drawingml/2006/main">
            <a:off x="5514975" y="2266950"/>
            <a:ext cx="614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D4B"/>
                </a:solidFill>
                <a:latin typeface="Lato"/>
                <a:ea typeface="Lato"/>
                <a:cs typeface="Lato"/>
              </a:defRPr>
            </a:pPr>
            <a:r>
              <a:rPr sz="1875" b="0">
                <a:solidFill>
                  <a:srgbClr val="172D4B"/>
                </a:solidFill>
                <a:latin typeface="Lato"/>
                <a:ea typeface="Lato"/>
                <a:cs typeface="Lato"/>
              </a:rPr>
              <a:t>VLM proposal: broccoli, cheese, fish.</a:t>
            </a:r>
          </a:p>
          <a:p xmlns:a="http://schemas.openxmlformats.org/drawingml/2006/main">
            <a:pPr>
              <a:defRPr sz="1875" b="0">
                <a:solidFill>
                  <a:srgbClr val="172D4B"/>
                </a:solidFill>
                <a:latin typeface="Lato"/>
                <a:ea typeface="Lato"/>
                <a:cs typeface="Lato"/>
              </a:defRPr>
            </a:pPr>
            <a:r>
              <a:rPr sz="1875" b="0">
                <a:solidFill>
                  <a:srgbClr val="172D4B"/>
                </a:solidFill>
                <a:latin typeface="Lato"/>
                <a:ea typeface="Lato"/>
                <a:cs typeface="Lato"/>
              </a:rPr>
              <a:t>Specified recipe: broccoli + cheese.</a:t>
            </a:r>
          </a:p>
        </p:txBody>
      </p:sp>
      <p:sp>
        <p:nvSpPr>
          <p:cNvPr id="9" name="HAA-RAG: how to grasp">
            <a:extLst xmlns:a="http://schemas.openxmlformats.org/drawingml/2006/main">
              <a:ext uri="{FF2B5EF4-FFF2-40B4-BE49-F238E27FC236}">
                <a16:creationId xmlns:a16="http://schemas.microsoft.com/office/drawing/2014/main" id="{D5EACD01-8007-4384-9B30-C9A3C5BCB53F}"/>
              </a:ext>
            </a:extLst>
          </p:cNvPr>
          <p:cNvSpPr>
            <a:spLocks xmlns:a="http://schemas.openxmlformats.org/drawingml/2006/main" noGrp="1"/>
          </p:cNvSpPr>
          <p:nvPr/>
        </p:nvSpPr>
        <p:spPr>
          <a:xfrm xmlns:a="http://schemas.openxmlformats.org/drawingml/2006/main">
            <a:off x="5514975" y="3181350"/>
            <a:ext cx="614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73D8C"/>
                </a:solidFill>
                <a:latin typeface="Lato"/>
                <a:ea typeface="Lato"/>
                <a:cs typeface="Lato"/>
              </a:defRPr>
            </a:pPr>
            <a:r>
              <a:rPr sz="1950" b="1">
                <a:solidFill>
                  <a:srgbClr val="073D8C"/>
                </a:solidFill>
                <a:latin typeface="Lato"/>
                <a:ea typeface="Lato"/>
                <a:cs typeface="Lato"/>
              </a:rPr>
              <a:t>HAA-RAG: how to grasp</a:t>
            </a:r>
          </a:p>
        </p:txBody>
      </p:sp>
      <p:sp>
        <p:nvSpPr>
          <p:cNvPr id="10" name="Retrieve ingredient-specific grasp cards.&#10;Bind the top-approach p">
            <a:extLst xmlns:a="http://schemas.openxmlformats.org/drawingml/2006/main">
              <a:ext uri="{FF2B5EF4-FFF2-40B4-BE49-F238E27FC236}">
                <a16:creationId xmlns:a16="http://schemas.microsoft.com/office/drawing/2014/main" id="{D6A911FF-16D6-48E9-AC9B-FDC9F2F3E758}"/>
              </a:ext>
            </a:extLst>
          </p:cNvPr>
          <p:cNvSpPr>
            <a:spLocks xmlns:a="http://schemas.openxmlformats.org/drawingml/2006/main" noGrp="1"/>
          </p:cNvSpPr>
          <p:nvPr/>
        </p:nvSpPr>
        <p:spPr>
          <a:xfrm xmlns:a="http://schemas.openxmlformats.org/drawingml/2006/main">
            <a:off x="5514975" y="3629025"/>
            <a:ext cx="614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D4B"/>
                </a:solidFill>
                <a:latin typeface="Lato"/>
                <a:ea typeface="Lato"/>
                <a:cs typeface="Lato"/>
              </a:defRPr>
            </a:pPr>
            <a:r>
              <a:rPr sz="1875" b="0">
                <a:solidFill>
                  <a:srgbClr val="172D4B"/>
                </a:solidFill>
                <a:latin typeface="Lato"/>
                <a:ea typeface="Lato"/>
                <a:cs typeface="Lato"/>
              </a:rPr>
              <a:t>Retrieve ingredient-specific grasp cards.</a:t>
            </a:r>
          </a:p>
          <a:p xmlns:a="http://schemas.openxmlformats.org/drawingml/2006/main">
            <a:pPr>
              <a:defRPr sz="1875" b="0">
                <a:solidFill>
                  <a:srgbClr val="172D4B"/>
                </a:solidFill>
                <a:latin typeface="Lato"/>
                <a:ea typeface="Lato"/>
                <a:cs typeface="Lato"/>
              </a:defRPr>
            </a:pPr>
            <a:r>
              <a:rPr sz="1875" b="0">
                <a:solidFill>
                  <a:srgbClr val="172D4B"/>
                </a:solidFill>
                <a:latin typeface="Lato"/>
                <a:ea typeface="Lato"/>
                <a:cs typeface="Lato"/>
              </a:rPr>
              <a:t>Bind the top-approach pick-and-place skill.</a:t>
            </a:r>
          </a:p>
        </p:txBody>
      </p:sp>
      <p:sp>
        <p:nvSpPr>
          <p:cNvPr id="11" name="">
            <a:extLst xmlns:a="http://schemas.openxmlformats.org/drawingml/2006/main">
              <a:ext uri="{FF2B5EF4-FFF2-40B4-BE49-F238E27FC236}">
                <a16:creationId xmlns:a16="http://schemas.microsoft.com/office/drawing/2014/main" id="{738884E7-E4F9-4455-ACB5-6E981C8062F7}"/>
              </a:ext>
            </a:extLst>
          </p:cNvPr>
          <p:cNvSpPr>
            <a:spLocks xmlns:a="http://schemas.openxmlformats.org/drawingml/2006/main" noGrp="1"/>
          </p:cNvSpPr>
          <p:nvPr/>
        </p:nvSpPr>
        <p:spPr>
          <a:xfrm xmlns:a="http://schemas.openxmlformats.org/drawingml/2006/main">
            <a:off x="5514975" y="4552950"/>
            <a:ext cx="6143625"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12" name="Execution and final-state checks">
            <a:extLst xmlns:a="http://schemas.openxmlformats.org/drawingml/2006/main">
              <a:ext uri="{FF2B5EF4-FFF2-40B4-BE49-F238E27FC236}">
                <a16:creationId xmlns:a16="http://schemas.microsoft.com/office/drawing/2014/main" id="{A4D81BF5-4BFB-4CFB-A167-B7CEADCF9352}"/>
              </a:ext>
            </a:extLst>
          </p:cNvPr>
          <p:cNvSpPr>
            <a:spLocks xmlns:a="http://schemas.openxmlformats.org/drawingml/2006/main" noGrp="1"/>
          </p:cNvSpPr>
          <p:nvPr/>
        </p:nvSpPr>
        <p:spPr>
          <a:xfrm xmlns:a="http://schemas.openxmlformats.org/drawingml/2006/main">
            <a:off x="5514975" y="4724400"/>
            <a:ext cx="614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8746F"/>
                </a:solidFill>
                <a:latin typeface="Lato"/>
                <a:ea typeface="Lato"/>
                <a:cs typeface="Lato"/>
              </a:defRPr>
            </a:pPr>
            <a:r>
              <a:rPr sz="1950" b="1">
                <a:solidFill>
                  <a:srgbClr val="18746F"/>
                </a:solidFill>
                <a:latin typeface="Lato"/>
                <a:ea typeface="Lato"/>
                <a:cs typeface="Lato"/>
              </a:rPr>
              <a:t>Execution and final-state checks</a:t>
            </a:r>
          </a:p>
        </p:txBody>
      </p:sp>
      <p:sp>
        <p:nvSpPr>
          <p:cNvPr id="13" name="Both ingredients released onto the plate.&#10;Hand retracted, final p">
            <a:extLst xmlns:a="http://schemas.openxmlformats.org/drawingml/2006/main">
              <a:ext uri="{FF2B5EF4-FFF2-40B4-BE49-F238E27FC236}">
                <a16:creationId xmlns:a16="http://schemas.microsoft.com/office/drawing/2014/main" id="{D5A96100-9025-4924-AE3E-FE676D1B3A61}"/>
              </a:ext>
            </a:extLst>
          </p:cNvPr>
          <p:cNvSpPr>
            <a:spLocks xmlns:a="http://schemas.openxmlformats.org/drawingml/2006/main" noGrp="1"/>
          </p:cNvSpPr>
          <p:nvPr/>
        </p:nvSpPr>
        <p:spPr>
          <a:xfrm xmlns:a="http://schemas.openxmlformats.org/drawingml/2006/main">
            <a:off x="5514975" y="5153025"/>
            <a:ext cx="614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D4B"/>
                </a:solidFill>
                <a:latin typeface="Lato"/>
                <a:ea typeface="Lato"/>
                <a:cs typeface="Lato"/>
              </a:defRPr>
            </a:pPr>
            <a:r>
              <a:rPr sz="1875" b="0">
                <a:solidFill>
                  <a:srgbClr val="172D4B"/>
                </a:solidFill>
                <a:latin typeface="Lato"/>
                <a:ea typeface="Lato"/>
                <a:cs typeface="Lato"/>
              </a:rPr>
              <a:t>Both ingredients released onto the plate.</a:t>
            </a:r>
          </a:p>
          <a:p xmlns:a="http://schemas.openxmlformats.org/drawingml/2006/main">
            <a:pPr>
              <a:defRPr sz="1875" b="0">
                <a:solidFill>
                  <a:srgbClr val="172D4B"/>
                </a:solidFill>
                <a:latin typeface="Lato"/>
                <a:ea typeface="Lato"/>
                <a:cs typeface="Lato"/>
              </a:defRPr>
            </a:pPr>
            <a:r>
              <a:rPr sz="1875" b="0">
                <a:solidFill>
                  <a:srgbClr val="172D4B"/>
                </a:solidFill>
                <a:latin typeface="Lato"/>
                <a:ea typeface="Lato"/>
                <a:cs typeface="Lato"/>
              </a:rPr>
              <a:t>Hand retracted, final positions stable.</a:t>
            </a:r>
          </a:p>
        </p:txBody>
      </p:sp>
      <p:sp>
        <p:nvSpPr>
          <p:cNvPr id="14" name="VLABench simulation, seed 7. Stored Qwen3.5-4B plan.&#10;Skill / IK e">
            <a:extLst xmlns:a="http://schemas.openxmlformats.org/drawingml/2006/main">
              <a:ext uri="{FF2B5EF4-FFF2-40B4-BE49-F238E27FC236}">
                <a16:creationId xmlns:a16="http://schemas.microsoft.com/office/drawing/2014/main" id="{3F6A24EF-F478-4864-AFDE-818AB832FD8F}"/>
              </a:ext>
            </a:extLst>
          </p:cNvPr>
          <p:cNvSpPr>
            <a:spLocks xmlns:a="http://schemas.openxmlformats.org/drawingml/2006/main" noGrp="1"/>
          </p:cNvSpPr>
          <p:nvPr/>
        </p:nvSpPr>
        <p:spPr>
          <a:xfrm xmlns:a="http://schemas.openxmlformats.org/drawingml/2006/main">
            <a:off x="5514975" y="5915025"/>
            <a:ext cx="6143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VLABench simulation, seed 7. Stored Qwen3.5-4B plan.</a:t>
            </a:r>
          </a:p>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Skill / IK execution with added release and settling checks.</a:t>
            </a:r>
          </a:p>
        </p:txBody>
      </p:sp>
    </p:spTree>
    <p:extLst>
      <p:ext uri="{BB962C8B-B14F-4D97-AF65-F5344CB8AC3E}">
        <p14:creationId xmlns:p14="http://schemas.microsoft.com/office/powerpoint/2010/main" val="1267843557"/>
      </p:ext>
    </p:extLst>
  </p:cSld>
  <p:timing>
    <p:tnLst>
      <p:par>
        <p:cTn id="1" dur="indefinite" restart="never" nodeType="tmRoot">
          <p:childTnLst>
            <p:video>
              <p:cMediaNode vol="0">
                <p:cTn id="2" fill="hold" display="0">
                  <p:stCondLst>
                    <p:cond delay="indefinite"/>
                  </p:stCondLst>
                </p:cTn>
                <p:tgtEl>
                  <p:spTgt spid="20"/>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nowledge and feedback for task-level planning">
            <a:extLst xmlns:a="http://schemas.openxmlformats.org/drawingml/2006/main">
              <a:ext uri="{FF2B5EF4-FFF2-40B4-BE49-F238E27FC236}">
                <a16:creationId xmlns:a16="http://schemas.microsoft.com/office/drawing/2014/main" id="{96B3BDE7-D33C-4FA3-8F51-65165DC12814}"/>
              </a:ext>
            </a:extLst>
          </p:cNvPr>
          <p:cNvSpPr>
            <a:spLocks xmlns:a="http://schemas.openxmlformats.org/drawingml/2006/main" noGrp="1"/>
          </p:cNvSpPr>
          <p:nvPr/>
        </p:nvSpPr>
        <p:spPr>
          <a:xfrm xmlns:a="http://schemas.openxmlformats.org/drawingml/2006/main">
            <a:off x="533400" y="3810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72D4B"/>
                </a:solidFill>
                <a:latin typeface="Lato"/>
                <a:ea typeface="Lato"/>
                <a:cs typeface="Lato"/>
              </a:defRPr>
            </a:pPr>
            <a:r>
              <a:rPr sz="3000" b="1">
                <a:solidFill>
                  <a:srgbClr val="172D4B"/>
                </a:solidFill>
                <a:latin typeface="Lato"/>
                <a:ea typeface="Lato"/>
                <a:cs typeface="Lato"/>
              </a:rPr>
              <a:t>Knowledge and feedback for task-level planning</a:t>
            </a:r>
          </a:p>
        </p:txBody>
      </p:sp>
      <p:sp>
        <p:nvSpPr>
          <p:cNvPr id="2" name="">
            <a:extLst xmlns:a="http://schemas.openxmlformats.org/drawingml/2006/main">
              <a:ext uri="{FF2B5EF4-FFF2-40B4-BE49-F238E27FC236}">
                <a16:creationId xmlns:a16="http://schemas.microsoft.com/office/drawing/2014/main" id="{406643DE-51E7-402E-AAC6-803016217019}"/>
              </a:ext>
            </a:extLst>
          </p:cNvPr>
          <p:cNvSpPr>
            <a:spLocks xmlns:a="http://schemas.openxmlformats.org/drawingml/2006/main" noGrp="1"/>
          </p:cNvSpPr>
          <p:nvPr/>
        </p:nvSpPr>
        <p:spPr>
          <a:xfrm xmlns:a="http://schemas.openxmlformats.org/drawingml/2006/main">
            <a:off x="533400" y="1114425"/>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3" name="IROS 2026  /  Paper 1772">
            <a:extLst xmlns:a="http://schemas.openxmlformats.org/drawingml/2006/main">
              <a:ext uri="{FF2B5EF4-FFF2-40B4-BE49-F238E27FC236}">
                <a16:creationId xmlns:a16="http://schemas.microsoft.com/office/drawing/2014/main" id="{A0044F87-15EC-40B3-8CE3-166B60B1FB06}"/>
              </a:ext>
            </a:extLst>
          </p:cNvPr>
          <p:cNvSpPr>
            <a:spLocks xmlns:a="http://schemas.openxmlformats.org/drawingml/2006/main" noGrp="1"/>
          </p:cNvSpPr>
          <p:nvPr/>
        </p:nvSpPr>
        <p:spPr>
          <a:xfrm xmlns:a="http://schemas.openxmlformats.org/drawingml/2006/main">
            <a:off x="533400" y="65055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36174"/>
                </a:solidFill>
                <a:latin typeface="Lato"/>
                <a:ea typeface="Lato"/>
                <a:cs typeface="Lato"/>
              </a:defRPr>
            </a:pPr>
            <a:r>
              <a:rPr sz="1275" b="0">
                <a:solidFill>
                  <a:srgbClr val="536174"/>
                </a:solidFill>
                <a:latin typeface="Lato"/>
                <a:ea typeface="Lato"/>
                <a:cs typeface="Lato"/>
              </a:rPr>
              <a:t>IROS 2026  /  Paper 1772</a:t>
            </a:r>
          </a:p>
        </p:txBody>
      </p:sp>
      <p:sp>
        <p:nvSpPr>
          <p:cNvPr id="4" name="06">
            <a:extLst xmlns:a="http://schemas.openxmlformats.org/drawingml/2006/main">
              <a:ext uri="{FF2B5EF4-FFF2-40B4-BE49-F238E27FC236}">
                <a16:creationId xmlns:a16="http://schemas.microsoft.com/office/drawing/2014/main" id="{85DBA164-CCF6-4A5D-AA20-C1856B5509B6}"/>
              </a:ext>
            </a:extLst>
          </p:cNvPr>
          <p:cNvSpPr>
            <a:spLocks xmlns:a="http://schemas.openxmlformats.org/drawingml/2006/main" noGrp="1"/>
          </p:cNvSpPr>
          <p:nvPr/>
        </p:nvSpPr>
        <p:spPr>
          <a:xfrm xmlns:a="http://schemas.openxmlformats.org/drawingml/2006/main">
            <a:off x="11334750" y="64865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174"/>
                </a:solidFill>
                <a:latin typeface="Lato"/>
                <a:ea typeface="Lato"/>
                <a:cs typeface="Lato"/>
              </a:defRPr>
            </a:pPr>
            <a:r>
              <a:rPr sz="1350" b="0">
                <a:solidFill>
                  <a:srgbClr val="536174"/>
                </a:solidFill>
                <a:latin typeface="Lato"/>
                <a:ea typeface="Lato"/>
                <a:cs typeface="Lato"/>
              </a:rPr>
              <a:t>06</a:t>
            </a:r>
          </a:p>
        </p:txBody>
      </p:sp>
      <p:sp>
        <p:nvSpPr>
          <p:cNvPr id="5" name="Agentic RAG-VLM guides the task plan.">
            <a:extLst xmlns:a="http://schemas.openxmlformats.org/drawingml/2006/main">
              <a:ext uri="{FF2B5EF4-FFF2-40B4-BE49-F238E27FC236}">
                <a16:creationId xmlns:a16="http://schemas.microsoft.com/office/drawing/2014/main" id="{E0F808E7-098B-46DF-9862-B99B791E05CA}"/>
              </a:ext>
            </a:extLst>
          </p:cNvPr>
          <p:cNvSpPr>
            <a:spLocks xmlns:a="http://schemas.openxmlformats.org/drawingml/2006/main" noGrp="1"/>
          </p:cNvSpPr>
          <p:nvPr/>
        </p:nvSpPr>
        <p:spPr>
          <a:xfrm xmlns:a="http://schemas.openxmlformats.org/drawingml/2006/main">
            <a:off x="533400" y="18097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073D8C"/>
                </a:solidFill>
                <a:latin typeface="Lato"/>
                <a:ea typeface="Lato"/>
                <a:cs typeface="Lato"/>
              </a:defRPr>
            </a:pPr>
            <a:r>
              <a:rPr sz="3225" b="1">
                <a:solidFill>
                  <a:srgbClr val="073D8C"/>
                </a:solidFill>
                <a:latin typeface="Lato"/>
                <a:ea typeface="Lato"/>
                <a:cs typeface="Lato"/>
              </a:rPr>
              <a:t>Agentic RAG-VLM guides the task plan.</a:t>
            </a:r>
          </a:p>
        </p:txBody>
      </p:sp>
      <p:sp>
        <p:nvSpPr>
          <p:cNvPr id="6" name="Retrieved experience and scene constraints&#10;provide context for de">
            <a:extLst xmlns:a="http://schemas.openxmlformats.org/drawingml/2006/main">
              <a:ext uri="{FF2B5EF4-FFF2-40B4-BE49-F238E27FC236}">
                <a16:creationId xmlns:a16="http://schemas.microsoft.com/office/drawing/2014/main" id="{9FF96699-7E1B-49FE-98D2-A3B5613C1BA4}"/>
              </a:ext>
            </a:extLst>
          </p:cNvPr>
          <p:cNvSpPr>
            <a:spLocks xmlns:a="http://schemas.openxmlformats.org/drawingml/2006/main" noGrp="1"/>
          </p:cNvSpPr>
          <p:nvPr/>
        </p:nvSpPr>
        <p:spPr>
          <a:xfrm xmlns:a="http://schemas.openxmlformats.org/drawingml/2006/main">
            <a:off x="533400" y="2752725"/>
            <a:ext cx="11125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172D4B"/>
                </a:solidFill>
                <a:latin typeface="Lato"/>
                <a:ea typeface="Lato"/>
                <a:cs typeface="Lato"/>
              </a:defRPr>
            </a:pPr>
            <a:r>
              <a:rPr sz="2550" b="0">
                <a:solidFill>
                  <a:srgbClr val="172D4B"/>
                </a:solidFill>
                <a:latin typeface="Lato"/>
                <a:ea typeface="Lato"/>
                <a:cs typeface="Lato"/>
              </a:rPr>
              <a:t>Retrieved experience and scene constraints</a:t>
            </a:r>
          </a:p>
          <a:p xmlns:a="http://schemas.openxmlformats.org/drawingml/2006/main">
            <a:pPr>
              <a:defRPr sz="2550" b="0">
                <a:solidFill>
                  <a:srgbClr val="172D4B"/>
                </a:solidFill>
                <a:latin typeface="Lato"/>
                <a:ea typeface="Lato"/>
                <a:cs typeface="Lato"/>
              </a:defRPr>
            </a:pPr>
            <a:r>
              <a:rPr sz="2550" b="0">
                <a:solidFill>
                  <a:srgbClr val="172D4B"/>
                </a:solidFill>
                <a:latin typeface="Lato"/>
                <a:ea typeface="Lato"/>
                <a:cs typeface="Lato"/>
              </a:rPr>
              <a:t>provide context for decisions and revisions.</a:t>
            </a:r>
          </a:p>
        </p:txBody>
      </p:sp>
      <p:sp>
        <p:nvSpPr>
          <p:cNvPr id="7" name="Robot skills handle motion execution.">
            <a:extLst xmlns:a="http://schemas.openxmlformats.org/drawingml/2006/main">
              <a:ext uri="{FF2B5EF4-FFF2-40B4-BE49-F238E27FC236}">
                <a16:creationId xmlns:a16="http://schemas.microsoft.com/office/drawing/2014/main" id="{C906EA5B-299F-4FBD-96FC-2BD9E4CF5ABE}"/>
              </a:ext>
            </a:extLst>
          </p:cNvPr>
          <p:cNvSpPr>
            <a:spLocks xmlns:a="http://schemas.openxmlformats.org/drawingml/2006/main" noGrp="1"/>
          </p:cNvSpPr>
          <p:nvPr/>
        </p:nvSpPr>
        <p:spPr>
          <a:xfrm xmlns:a="http://schemas.openxmlformats.org/drawingml/2006/main">
            <a:off x="533400" y="398145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8746F"/>
                </a:solidFill>
                <a:latin typeface="Lato"/>
                <a:ea typeface="Lato"/>
                <a:cs typeface="Lato"/>
              </a:defRPr>
            </a:pPr>
            <a:r>
              <a:rPr sz="2400" b="1">
                <a:solidFill>
                  <a:srgbClr val="18746F"/>
                </a:solidFill>
                <a:latin typeface="Lato"/>
                <a:ea typeface="Lato"/>
                <a:cs typeface="Lato"/>
              </a:rPr>
              <a:t>Robot skills handle motion execution.</a:t>
            </a:r>
          </a:p>
        </p:txBody>
      </p:sp>
      <p:sp>
        <p:nvSpPr>
          <p:cNvPr id="8" name="Next: broader physical evaluation and real-robot transfer">
            <a:extLst xmlns:a="http://schemas.openxmlformats.org/drawingml/2006/main">
              <a:ext uri="{FF2B5EF4-FFF2-40B4-BE49-F238E27FC236}">
                <a16:creationId xmlns:a16="http://schemas.microsoft.com/office/drawing/2014/main" id="{D5539A4C-C9E7-4239-9513-125F72039671}"/>
              </a:ext>
            </a:extLst>
          </p:cNvPr>
          <p:cNvSpPr>
            <a:spLocks xmlns:a="http://schemas.openxmlformats.org/drawingml/2006/main" noGrp="1"/>
          </p:cNvSpPr>
          <p:nvPr/>
        </p:nvSpPr>
        <p:spPr>
          <a:xfrm xmlns:a="http://schemas.openxmlformats.org/drawingml/2006/main">
            <a:off x="533400" y="48958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36174"/>
                </a:solidFill>
                <a:latin typeface="Lato"/>
                <a:ea typeface="Lato"/>
                <a:cs typeface="Lato"/>
              </a:defRPr>
            </a:pPr>
            <a:r>
              <a:rPr sz="2025" b="0">
                <a:solidFill>
                  <a:srgbClr val="536174"/>
                </a:solidFill>
                <a:latin typeface="Lato"/>
                <a:ea typeface="Lato"/>
                <a:cs typeface="Lato"/>
              </a:rPr>
              <a:t>Next: broader physical evaluation and real-robot transfer</a:t>
            </a:r>
          </a:p>
        </p:txBody>
      </p:sp>
      <p:sp>
        <p:nvSpPr>
          <p:cNvPr id="9" name="">
            <a:extLst xmlns:a="http://schemas.openxmlformats.org/drawingml/2006/main">
              <a:ext uri="{FF2B5EF4-FFF2-40B4-BE49-F238E27FC236}">
                <a16:creationId xmlns:a16="http://schemas.microsoft.com/office/drawing/2014/main" id="{E968B7BA-64A0-4D6D-9623-237949313B02}"/>
              </a:ext>
            </a:extLst>
          </p:cNvPr>
          <p:cNvSpPr>
            <a:spLocks xmlns:a="http://schemas.openxmlformats.org/drawingml/2006/main" noGrp="1"/>
          </p:cNvSpPr>
          <p:nvPr/>
        </p:nvSpPr>
        <p:spPr>
          <a:xfrm xmlns:a="http://schemas.openxmlformats.org/drawingml/2006/main">
            <a:off x="533400" y="5562600"/>
            <a:ext cx="11125200" cy="11430"/>
          </a:xfrm>
          <a:prstGeom xmlns:a="http://schemas.openxmlformats.org/drawingml/2006/main" prst="rect">
            <a:avLst/>
          </a:prstGeom>
          <a:solidFill xmlns:a="http://schemas.openxmlformats.org/drawingml/2006/main">
            <a:srgbClr val="D9E0E8"/>
          </a:solidFill>
          <a:ln xmlns:a="http://schemas.openxmlformats.org/drawingml/2006/main" w="0">
            <a:noFill/>
          </a:ln>
        </p:spPr>
      </p:sp>
      <p:sp>
        <p:nvSpPr>
          <p:cNvPr id="10" name="Thank you">
            <a:extLst xmlns:a="http://schemas.openxmlformats.org/drawingml/2006/main">
              <a:ext uri="{FF2B5EF4-FFF2-40B4-BE49-F238E27FC236}">
                <a16:creationId xmlns:a16="http://schemas.microsoft.com/office/drawing/2014/main" id="{A43689DC-1F23-4FCF-B7D0-E33B4F5C87FB}"/>
              </a:ext>
            </a:extLst>
          </p:cNvPr>
          <p:cNvSpPr>
            <a:spLocks xmlns:a="http://schemas.openxmlformats.org/drawingml/2006/main" noGrp="1"/>
          </p:cNvSpPr>
          <p:nvPr/>
        </p:nvSpPr>
        <p:spPr>
          <a:xfrm xmlns:a="http://schemas.openxmlformats.org/drawingml/2006/main">
            <a:off x="533400" y="5753100"/>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1">
                <a:solidFill>
                  <a:srgbClr val="172D4B"/>
                </a:solidFill>
                <a:latin typeface="Lato"/>
                <a:ea typeface="Lato"/>
                <a:cs typeface="Lato"/>
              </a:defRPr>
            </a:pPr>
            <a:r>
              <a:rPr sz="2850" b="1">
                <a:solidFill>
                  <a:srgbClr val="172D4B"/>
                </a:solidFill>
                <a:latin typeface="Lato"/>
                <a:ea typeface="Lato"/>
                <a:cs typeface="Lato"/>
              </a:rPr>
              <a:t>Thank you</a:t>
            </a:r>
          </a:p>
        </p:txBody>
      </p:sp>
      <p:sp>
        <p:nvSpPr>
          <p:cNvPr id="11" name="Paper 1772">
            <a:extLst xmlns:a="http://schemas.openxmlformats.org/drawingml/2006/main">
              <a:ext uri="{FF2B5EF4-FFF2-40B4-BE49-F238E27FC236}">
                <a16:creationId xmlns:a16="http://schemas.microsoft.com/office/drawing/2014/main" id="{ACE17246-021E-475D-9A27-0504643490E8}"/>
              </a:ext>
            </a:extLst>
          </p:cNvPr>
          <p:cNvSpPr>
            <a:spLocks xmlns:a="http://schemas.openxmlformats.org/drawingml/2006/main" noGrp="1"/>
          </p:cNvSpPr>
          <p:nvPr/>
        </p:nvSpPr>
        <p:spPr>
          <a:xfrm xmlns:a="http://schemas.openxmlformats.org/drawingml/2006/main">
            <a:off x="9429750" y="58674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073D8C"/>
                </a:solidFill>
                <a:latin typeface="Lato"/>
                <a:ea typeface="Lato"/>
                <a:cs typeface="Lato"/>
              </a:defRPr>
            </a:pPr>
            <a:r>
              <a:rPr sz="1950" b="0">
                <a:solidFill>
                  <a:srgbClr val="073D8C"/>
                </a:solidFill>
                <a:latin typeface="Lato"/>
                <a:ea typeface="Lato"/>
                <a:cs typeface="Lato"/>
              </a:rPr>
              <a:t>Paper 1772</a:t>
            </a:r>
          </a:p>
        </p:txBody>
      </p:sp>
    </p:spTree>
    <p:extLst>
      <p:ext uri="{BB962C8B-B14F-4D97-AF65-F5344CB8AC3E}">
        <p14:creationId xmlns:p14="http://schemas.microsoft.com/office/powerpoint/2010/main" val="13547711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2026-09-15T07:31:44.2930000Z</dcterms:created>
  <dcterms:modified xsi:type="dcterms:W3CDTF">2026-09-15T07:31:44.2930000Z</dcterms:modified>
</coreProperties>
</file>